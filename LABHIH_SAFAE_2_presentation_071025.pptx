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75" r:id="rId4"/>
    <p:sldId id="276" r:id="rId5"/>
    <p:sldId id="258" r:id="rId6"/>
    <p:sldId id="265" r:id="rId7"/>
    <p:sldId id="267" r:id="rId8"/>
    <p:sldId id="266" r:id="rId9"/>
    <p:sldId id="272" r:id="rId10"/>
    <p:sldId id="270" r:id="rId11"/>
    <p:sldId id="277" r:id="rId12"/>
    <p:sldId id="279" r:id="rId13"/>
    <p:sldId id="278" r:id="rId14"/>
    <p:sldId id="260" r:id="rId15"/>
    <p:sldId id="261" r:id="rId16"/>
    <p:sldId id="271" r:id="rId17"/>
    <p:sldId id="263" r:id="rId18"/>
    <p:sldId id="274" r:id="rId19"/>
    <p:sldId id="264" r:id="rId20"/>
    <p:sldId id="280" r:id="rId21"/>
  </p:sldIdLst>
  <p:sldSz cx="9144000" cy="5143500" type="screen16x9"/>
  <p:notesSz cx="6858000" cy="9144000"/>
  <p:embeddedFontLst>
    <p:embeddedFont>
      <p:font typeface="Lato" panose="020B0604020202020204" charset="0"/>
      <p:regular r:id="rId23"/>
      <p:bold r:id="rId24"/>
      <p:italic r:id="rId25"/>
      <p:boldItalic r:id="rId26"/>
    </p:embeddedFont>
    <p:embeddedFont>
      <p:font typeface="Raleway" panose="020B0604020202020204" charset="0"/>
      <p:regular r:id="rId27"/>
      <p:bold r:id="rId28"/>
      <p:italic r:id="rId29"/>
      <p:boldItalic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Montserrat" panose="020B060402020202020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82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9907307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36c227a4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36c227a4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09454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36251e9b6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36251e9b6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6645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6251e9b62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36251e9b62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9320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6251e9b62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36251e9b62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4251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6251e9b62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36251e9b62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80745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6251e9b62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36251e9b62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67525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6251e9b62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36251e9b62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63614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6251e9b62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36251e9b62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24627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6251e9b62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36251e9b62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01094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6251e9b62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36251e9b62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12653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6251e9b62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36251e9b62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514329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6251e9b62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36251e9b62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40497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6251e9b62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36251e9b62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02927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6251e9b62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36251e9b62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77194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36c227a4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36c227a4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14869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36251e9b6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36251e9b6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271967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36c227a4fd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36c227a4fd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86083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36c227a4fd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36c227a4fd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6634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36c227a4fd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36c227a4fd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8848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latin typeface="+mj-lt"/>
              </a:rPr>
              <a:t>Les Plus Beaux Logis de Paris</a:t>
            </a:r>
            <a:endParaRPr dirty="0">
              <a:latin typeface="+mj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latin typeface="+mj-lt"/>
              </a:rPr>
              <a:t>Partie 1</a:t>
            </a:r>
            <a:endParaRPr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subTitle" idx="1"/>
          </p:nvPr>
        </p:nvSpPr>
        <p:spPr>
          <a:xfrm>
            <a:off x="311700" y="2571750"/>
            <a:ext cx="8520600" cy="14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indent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50000"/>
            </a:pPr>
            <a:r>
              <a:rPr lang="fr" sz="2200" i="1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Titre du projet : </a:t>
            </a:r>
            <a:r>
              <a:rPr lang="fr-FR" sz="2800" b="1" i="1" dirty="0">
                <a:solidFill>
                  <a:schemeClr val="tx1"/>
                </a:solidFill>
                <a:effectLst/>
                <a:latin typeface="+mj-lt"/>
              </a:rPr>
              <a:t>Analysez l’évolution des prix de l’immobilier avec Python</a:t>
            </a:r>
            <a:endParaRPr sz="2200" i="1" dirty="0">
              <a:solidFill>
                <a:schemeClr val="tx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fr" sz="2200" i="1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Prénom </a:t>
            </a:r>
            <a:r>
              <a:rPr lang="fr" sz="2200" i="1" dirty="0" smtClean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:SAFAE	</a:t>
            </a:r>
            <a:endParaRPr sz="2200" i="1" dirty="0">
              <a:solidFill>
                <a:schemeClr val="dk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fr" sz="2200" i="1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Nom : </a:t>
            </a:r>
            <a:r>
              <a:rPr lang="fr" sz="2200" i="1" dirty="0" smtClean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LABHIH</a:t>
            </a:r>
            <a:endParaRPr sz="2200" i="1" dirty="0">
              <a:solidFill>
                <a:schemeClr val="dk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fr" sz="2200" i="1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Date : </a:t>
            </a:r>
            <a:r>
              <a:rPr lang="fr" sz="2200" i="1" dirty="0" smtClean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30/07/2025</a:t>
            </a:r>
            <a:endParaRPr sz="2200" i="1" dirty="0">
              <a:solidFill>
                <a:schemeClr val="dk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92" name="Google Shape;9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400" y="89925"/>
            <a:ext cx="3669750" cy="164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7650" y="562146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5290" algn="l" rtl="0">
              <a:spcBef>
                <a:spcPts val="0"/>
              </a:spcBef>
              <a:spcAft>
                <a:spcPts val="0"/>
              </a:spcAft>
              <a:buSzPts val="2940"/>
              <a:buFont typeface="Montserrat"/>
              <a:buAutoNum type="romanUcPeriod"/>
            </a:pPr>
            <a:r>
              <a:rPr lang="fr" sz="2940" dirty="0">
                <a:latin typeface="Montserrat"/>
                <a:ea typeface="Montserrat"/>
                <a:cs typeface="Montserrat"/>
                <a:sym typeface="Montserrat"/>
              </a:rPr>
              <a:t>Analyse du marché de l’immobilier</a:t>
            </a:r>
            <a:endParaRPr sz="2520"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0850" y="1572927"/>
            <a:ext cx="840913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sz="1800" dirty="0" smtClean="0">
                <a:solidFill>
                  <a:schemeClr val="bg2">
                    <a:lumMod val="75000"/>
                    <a:lumOff val="25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Contexte &amp; Problématique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fr-FR" altLang="fr-FR" sz="1800" dirty="0" smtClean="0">
                <a:solidFill>
                  <a:schemeClr val="bg2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Contexte: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sz="1400" dirty="0" smtClean="0">
                <a:solidFill>
                  <a:schemeClr val="bg2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Les </a:t>
            </a:r>
            <a:r>
              <a:rPr lang="fr-FR" altLang="fr-FR" sz="1400" dirty="0">
                <a:solidFill>
                  <a:schemeClr val="bg2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Plus Beaux Logis de Paris, acteur historique de l’immobilier parisien depuis 12 ans.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sz="1400" dirty="0" smtClean="0">
                <a:solidFill>
                  <a:schemeClr val="bg2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L’entreprise </a:t>
            </a:r>
            <a:r>
              <a:rPr lang="fr-FR" altLang="fr-FR" sz="1400" dirty="0">
                <a:solidFill>
                  <a:schemeClr val="bg2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souhaite céder une partie de ses actifs pour sécuriser sa trésorerie.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altLang="fr-FR" sz="1800" dirty="0" smtClean="0">
              <a:solidFill>
                <a:schemeClr val="bg2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sz="1800" dirty="0" smtClean="0">
                <a:solidFill>
                  <a:schemeClr val="bg2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Deux </a:t>
            </a:r>
            <a:r>
              <a:rPr lang="fr-FR" altLang="fr-FR" sz="1800" dirty="0">
                <a:solidFill>
                  <a:schemeClr val="bg2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segments distincts 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sz="1400" dirty="0">
                <a:solidFill>
                  <a:schemeClr val="bg2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▪️ </a:t>
            </a:r>
            <a:r>
              <a:rPr lang="fr-FR" altLang="fr-FR" sz="1400" dirty="0" smtClean="0">
                <a:solidFill>
                  <a:schemeClr val="bg2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Particuliers</a:t>
            </a:r>
            <a:endParaRPr lang="fr-FR" altLang="fr-FR" sz="1400" dirty="0">
              <a:solidFill>
                <a:schemeClr val="bg2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sz="1400" dirty="0">
                <a:solidFill>
                  <a:schemeClr val="bg2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▪️ </a:t>
            </a:r>
            <a:r>
              <a:rPr lang="fr-FR" altLang="fr-FR" sz="1400" dirty="0" smtClean="0">
                <a:solidFill>
                  <a:schemeClr val="bg2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Corporate</a:t>
            </a:r>
            <a:endParaRPr lang="fr-FR" altLang="fr-FR" sz="1400" dirty="0">
              <a:solidFill>
                <a:schemeClr val="bg2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fr-FR" altLang="fr-FR" sz="1800" dirty="0" smtClean="0">
              <a:solidFill>
                <a:schemeClr val="bg2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fr-FR" altLang="fr-FR" sz="1800" dirty="0" smtClean="0">
                <a:solidFill>
                  <a:schemeClr val="bg2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Problématique:</a:t>
            </a:r>
            <a:endParaRPr lang="fr-FR" altLang="fr-FR" sz="1800" dirty="0">
              <a:solidFill>
                <a:schemeClr val="bg2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sz="1400" dirty="0">
                <a:solidFill>
                  <a:schemeClr val="bg2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Quel segment possède le plus fort potentiel de valorisation ?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sz="1400" dirty="0">
                <a:solidFill>
                  <a:schemeClr val="bg2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Quels actifs peut-on céder sans compromettre l’avenir ?</a:t>
            </a:r>
            <a:endParaRPr kumimoji="0" lang="fr-FR" altLang="fr-FR" sz="1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590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7650" y="562146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5290" algn="l" rtl="0">
              <a:spcBef>
                <a:spcPts val="0"/>
              </a:spcBef>
              <a:spcAft>
                <a:spcPts val="0"/>
              </a:spcAft>
              <a:buSzPts val="2940"/>
              <a:buFont typeface="Montserrat"/>
              <a:buAutoNum type="romanUcPeriod"/>
            </a:pPr>
            <a:r>
              <a:rPr lang="fr" sz="2940" dirty="0">
                <a:latin typeface="Montserrat"/>
                <a:ea typeface="Montserrat"/>
                <a:cs typeface="Montserrat"/>
                <a:sym typeface="Montserrat"/>
              </a:rPr>
              <a:t>Analyse du marché de l’immobilier</a:t>
            </a:r>
            <a:endParaRPr sz="2520"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0850" y="1916098"/>
            <a:ext cx="8409132" cy="236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FR" sz="1800" b="1" dirty="0">
                <a:solidFill>
                  <a:schemeClr val="bg2"/>
                </a:solidFill>
              </a:rPr>
              <a:t>Jeux de données </a:t>
            </a:r>
            <a:r>
              <a:rPr lang="fr-FR" sz="1800" b="1" dirty="0" smtClean="0">
                <a:solidFill>
                  <a:schemeClr val="bg2"/>
                </a:solidFill>
              </a:rPr>
              <a:t>fournis :</a:t>
            </a:r>
            <a:endParaRPr lang="fr-FR" sz="1800" b="1" dirty="0">
              <a:solidFill>
                <a:schemeClr val="bg2"/>
              </a:solidFill>
            </a:endParaRPr>
          </a:p>
          <a:p>
            <a:pPr marL="146050" indent="0">
              <a:buNone/>
            </a:pPr>
            <a:endParaRPr lang="fr-FR" sz="1400" b="1" dirty="0" smtClean="0">
              <a:solidFill>
                <a:schemeClr val="bg2"/>
              </a:solidFill>
            </a:endParaRPr>
          </a:p>
          <a:p>
            <a:pPr marL="146050" indent="0">
              <a:buNone/>
            </a:pPr>
            <a:r>
              <a:rPr lang="fr-FR" sz="1400" b="1" dirty="0" smtClean="0">
                <a:solidFill>
                  <a:schemeClr val="bg2"/>
                </a:solidFill>
              </a:rPr>
              <a:t>Historique </a:t>
            </a:r>
            <a:r>
              <a:rPr lang="fr-FR" sz="1400" b="1" dirty="0">
                <a:solidFill>
                  <a:schemeClr val="bg2"/>
                </a:solidFill>
              </a:rPr>
              <a:t>immobilier Paris</a:t>
            </a:r>
            <a:r>
              <a:rPr lang="fr-FR" sz="1400" dirty="0">
                <a:solidFill>
                  <a:schemeClr val="bg2"/>
                </a:solidFill>
              </a:rPr>
              <a:t> (2017–2021</a:t>
            </a:r>
            <a:r>
              <a:rPr lang="fr-FR" sz="1400" dirty="0" smtClean="0">
                <a:solidFill>
                  <a:schemeClr val="bg2"/>
                </a:solidFill>
              </a:rPr>
              <a:t>):</a:t>
            </a:r>
            <a:r>
              <a:rPr lang="fr-FR" sz="1400" dirty="0">
                <a:solidFill>
                  <a:schemeClr val="bg2"/>
                </a:solidFill>
              </a:rPr>
              <a:t/>
            </a:r>
            <a:br>
              <a:rPr lang="fr-FR" sz="1400" dirty="0">
                <a:solidFill>
                  <a:schemeClr val="bg2"/>
                </a:solidFill>
              </a:rPr>
            </a:br>
            <a:r>
              <a:rPr lang="fr-FR" sz="1400" dirty="0">
                <a:solidFill>
                  <a:schemeClr val="bg2"/>
                </a:solidFill>
              </a:rPr>
              <a:t>▪️ Transactions, prix au m², surfaces, types de biens, arrondissements</a:t>
            </a:r>
          </a:p>
          <a:p>
            <a:pPr marL="146050" indent="0">
              <a:buNone/>
            </a:pPr>
            <a:r>
              <a:rPr lang="fr-FR" sz="1400" b="1" dirty="0">
                <a:solidFill>
                  <a:schemeClr val="bg2"/>
                </a:solidFill>
              </a:rPr>
              <a:t>Portefeuille d’actifs</a:t>
            </a:r>
            <a:r>
              <a:rPr lang="fr-FR" sz="1400" dirty="0">
                <a:solidFill>
                  <a:schemeClr val="bg2"/>
                </a:solidFill>
              </a:rPr>
              <a:t> de </a:t>
            </a:r>
            <a:r>
              <a:rPr lang="fr-FR" sz="1400" dirty="0" smtClean="0">
                <a:solidFill>
                  <a:schemeClr val="bg2"/>
                </a:solidFill>
              </a:rPr>
              <a:t>l’entreprise:</a:t>
            </a:r>
            <a:r>
              <a:rPr lang="fr-FR" sz="1400" dirty="0">
                <a:solidFill>
                  <a:schemeClr val="bg2"/>
                </a:solidFill>
              </a:rPr>
              <a:t/>
            </a:r>
            <a:br>
              <a:rPr lang="fr-FR" sz="1400" dirty="0">
                <a:solidFill>
                  <a:schemeClr val="bg2"/>
                </a:solidFill>
              </a:rPr>
            </a:br>
            <a:r>
              <a:rPr lang="fr-FR" sz="1400" dirty="0">
                <a:solidFill>
                  <a:schemeClr val="bg2"/>
                </a:solidFill>
              </a:rPr>
              <a:t>▪️ Données sur les biens "Particuliers" et "Corporate"</a:t>
            </a:r>
          </a:p>
          <a:p>
            <a:pPr marL="146050" indent="0">
              <a:buNone/>
            </a:pPr>
            <a:r>
              <a:rPr lang="fr-FR" sz="1400" b="1" dirty="0">
                <a:solidFill>
                  <a:schemeClr val="bg2"/>
                </a:solidFill>
              </a:rPr>
              <a:t>Échantillon de biens sans typologie </a:t>
            </a:r>
            <a:r>
              <a:rPr lang="fr-FR" sz="1400" b="1" dirty="0" smtClean="0">
                <a:solidFill>
                  <a:schemeClr val="bg2"/>
                </a:solidFill>
              </a:rPr>
              <a:t>définie:</a:t>
            </a:r>
            <a:r>
              <a:rPr lang="fr-FR" sz="1400" dirty="0">
                <a:solidFill>
                  <a:schemeClr val="bg2"/>
                </a:solidFill>
              </a:rPr>
              <a:t/>
            </a:r>
            <a:br>
              <a:rPr lang="fr-FR" sz="1400" dirty="0">
                <a:solidFill>
                  <a:schemeClr val="bg2"/>
                </a:solidFill>
              </a:rPr>
            </a:br>
            <a:r>
              <a:rPr lang="fr-FR" sz="1400" dirty="0">
                <a:solidFill>
                  <a:schemeClr val="bg2"/>
                </a:solidFill>
              </a:rPr>
              <a:t>▪️ Données à classer automatiquement via un algorithme non supervisé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fr-FR" altLang="fr-FR" sz="1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51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7650" y="562146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5290" algn="l" rtl="0">
              <a:spcBef>
                <a:spcPts val="0"/>
              </a:spcBef>
              <a:spcAft>
                <a:spcPts val="0"/>
              </a:spcAft>
              <a:buSzPts val="2940"/>
              <a:buFont typeface="Montserrat"/>
              <a:buAutoNum type="romanUcPeriod"/>
            </a:pPr>
            <a:r>
              <a:rPr lang="fr" sz="2940" dirty="0">
                <a:latin typeface="Montserrat"/>
                <a:ea typeface="Montserrat"/>
                <a:cs typeface="Montserrat"/>
                <a:sym typeface="Montserrat"/>
              </a:rPr>
              <a:t>Analyse du marché de l’immobilier</a:t>
            </a:r>
            <a:endParaRPr sz="2520" dirty="0"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450936" y="1290182"/>
            <a:ext cx="7967213" cy="36119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sz="1400" i="1" dirty="0">
                <a:solidFill>
                  <a:schemeClr val="tx1">
                    <a:lumMod val="75000"/>
                  </a:schemeClr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Evolution du prix au mètre carré des appartements dans Paris </a:t>
            </a:r>
            <a:r>
              <a:rPr lang="fr" sz="1400" i="1" dirty="0">
                <a:solidFill>
                  <a:schemeClr val="tx1">
                    <a:lumMod val="75000"/>
                  </a:schemeClr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entre 2017 et 2021 </a:t>
            </a:r>
            <a:endParaRPr sz="1400" i="1" dirty="0">
              <a:solidFill>
                <a:schemeClr val="tx1">
                  <a:lumMod val="75000"/>
                </a:schemeClr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="" xmlns:a16="http://schemas.microsoft.com/office/drawing/2014/main" id="{B78B9873-D3D7-4A64-9799-BD7C519A650A}"/>
              </a:ext>
            </a:extLst>
          </p:cNvPr>
          <p:cNvSpPr txBox="1"/>
          <p:nvPr/>
        </p:nvSpPr>
        <p:spPr>
          <a:xfrm>
            <a:off x="4409657" y="3161040"/>
            <a:ext cx="3870540" cy="9703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fr-FR" sz="1000" b="1" dirty="0">
                <a:solidFill>
                  <a:schemeClr val="accent1">
                    <a:lumMod val="50000"/>
                  </a:schemeClr>
                </a:solidFill>
                <a:latin typeface="Montserrat" panose="00000500000000000000" pitchFamily="2" charset="0"/>
              </a:rPr>
              <a:t>Tendance de la Valeur Foncière  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fr-FR" sz="1000" b="1" dirty="0">
                <a:solidFill>
                  <a:schemeClr val="accent1">
                    <a:lumMod val="50000"/>
                  </a:schemeClr>
                </a:solidFill>
                <a:latin typeface="Montserrat" panose="00000500000000000000" pitchFamily="2" charset="0"/>
              </a:rPr>
              <a:t>Évolution de la Surface des 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fr-FR" sz="1000" b="1" dirty="0">
                <a:solidFill>
                  <a:schemeClr val="accent1">
                    <a:lumMod val="50000"/>
                  </a:schemeClr>
                </a:solidFill>
                <a:latin typeface="Montserrat" panose="00000500000000000000" pitchFamily="2" charset="0"/>
              </a:rPr>
              <a:t>Corrélation avec le Prix au Mètre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="" xmlns:a16="http://schemas.microsoft.com/office/drawing/2014/main" id="{0E83FFE3-7A38-4530-AAAA-6E6381D9B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534" y="2013491"/>
            <a:ext cx="4052663" cy="9547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="" xmlns:a16="http://schemas.microsoft.com/office/drawing/2014/main" id="{C4F8AA36-21E6-4B1F-BA39-81D0C9CFBE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20" y="1931370"/>
            <a:ext cx="3556753" cy="26995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7649" y="484156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5290" algn="l" rtl="0">
              <a:spcBef>
                <a:spcPts val="0"/>
              </a:spcBef>
              <a:spcAft>
                <a:spcPts val="0"/>
              </a:spcAft>
              <a:buSzPts val="2940"/>
              <a:buFont typeface="Montserrat"/>
              <a:buAutoNum type="romanUcPeriod"/>
            </a:pPr>
            <a:r>
              <a:rPr lang="fr" sz="2940" dirty="0">
                <a:latin typeface="Montserrat"/>
                <a:ea typeface="Montserrat"/>
                <a:cs typeface="Montserrat"/>
                <a:sym typeface="Montserrat"/>
              </a:rPr>
              <a:t>Analyse du marché de l’immobilier</a:t>
            </a:r>
            <a:endParaRPr sz="2520" dirty="0"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727649" y="1385455"/>
            <a:ext cx="7688700" cy="36938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sz="1400" i="1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   </a:t>
            </a:r>
            <a:r>
              <a:rPr lang="fr-FR" sz="1400" i="1" dirty="0">
                <a:solidFill>
                  <a:schemeClr val="tx1">
                    <a:lumMod val="75000"/>
                  </a:schemeClr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Les Différences de prix au mètre carré entre les arrondissements</a:t>
            </a:r>
            <a:endParaRPr sz="1400" i="1" dirty="0">
              <a:solidFill>
                <a:schemeClr val="tx1">
                  <a:lumMod val="75000"/>
                </a:schemeClr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="" xmlns:a16="http://schemas.microsoft.com/office/drawing/2014/main" id="{D7C9581A-D0D5-42BA-9412-F0B5B3876D22}"/>
              </a:ext>
            </a:extLst>
          </p:cNvPr>
          <p:cNvSpPr txBox="1"/>
          <p:nvPr/>
        </p:nvSpPr>
        <p:spPr>
          <a:xfrm>
            <a:off x="7197857" y="2217749"/>
            <a:ext cx="1782585" cy="23852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fr-FR" sz="1000" b="1" dirty="0">
                <a:solidFill>
                  <a:schemeClr val="accent1">
                    <a:lumMod val="50000"/>
                  </a:schemeClr>
                </a:solidFill>
                <a:latin typeface="Montserrat" panose="00000500000000000000" pitchFamily="2" charset="0"/>
                <a:ea typeface="Arial"/>
                <a:cs typeface="Arial"/>
              </a:rPr>
              <a:t>Augmentation Générale des Prix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fr-FR" sz="1000" b="1" dirty="0">
                <a:solidFill>
                  <a:schemeClr val="accent1">
                    <a:lumMod val="50000"/>
                  </a:schemeClr>
                </a:solidFill>
                <a:latin typeface="Montserrat" panose="00000500000000000000" pitchFamily="2" charset="0"/>
                <a:ea typeface="Arial"/>
                <a:cs typeface="Arial"/>
              </a:rPr>
              <a:t>Stabilité et Légère Baisse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fr-FR" sz="1000" b="1" dirty="0">
                <a:solidFill>
                  <a:schemeClr val="accent1">
                    <a:lumMod val="50000"/>
                  </a:schemeClr>
                </a:solidFill>
                <a:latin typeface="Montserrat" panose="00000500000000000000" pitchFamily="2" charset="0"/>
                <a:ea typeface="Arial"/>
                <a:cs typeface="Arial"/>
              </a:rPr>
              <a:t>Variabilité par Arrondissement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§"/>
            </a:pPr>
            <a:endParaRPr lang="fr-FR" sz="1000" b="1" dirty="0">
              <a:solidFill>
                <a:schemeClr val="accent1">
                  <a:lumMod val="60000"/>
                  <a:lumOff val="40000"/>
                </a:schemeClr>
              </a:solidFill>
              <a:latin typeface="Montserrat" panose="00000500000000000000" pitchFamily="2" charset="0"/>
              <a:ea typeface="Arial"/>
              <a:cs typeface="Arial"/>
            </a:endParaRPr>
          </a:p>
          <a:p>
            <a:endParaRPr lang="fr-FR" sz="900" dirty="0">
              <a:solidFill>
                <a:schemeClr val="accent1">
                  <a:lumMod val="75000"/>
                </a:schemeClr>
              </a:solidFill>
              <a:latin typeface="Montserrat" panose="00000500000000000000" pitchFamily="2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="" xmlns:a16="http://schemas.microsoft.com/office/drawing/2014/main" id="{782EDB28-8845-406B-9C20-63AEA74DF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56" y="2044246"/>
            <a:ext cx="2955899" cy="255877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="" xmlns:a16="http://schemas.microsoft.com/office/drawing/2014/main" id="{9476D721-807A-48A5-A21B-AF476539CA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3289" y="2044246"/>
            <a:ext cx="3514309" cy="268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036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7650" y="515162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5290" algn="l" rtl="0">
              <a:spcBef>
                <a:spcPts val="0"/>
              </a:spcBef>
              <a:spcAft>
                <a:spcPts val="0"/>
              </a:spcAft>
              <a:buSzPts val="2940"/>
              <a:buFont typeface="Montserrat"/>
              <a:buAutoNum type="romanUcPeriod"/>
            </a:pPr>
            <a:r>
              <a:rPr lang="fr" sz="2940" dirty="0">
                <a:latin typeface="Montserrat"/>
                <a:ea typeface="Montserrat"/>
                <a:cs typeface="Montserrat"/>
                <a:sym typeface="Montserrat"/>
              </a:rPr>
              <a:t>Analyse du marché de l’immobilier</a:t>
            </a:r>
            <a:endParaRPr sz="2520" dirty="0"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369519" y="1283917"/>
            <a:ext cx="8235862" cy="37407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603250" lvl="1" indent="0" algn="ctr">
              <a:buNone/>
            </a:pPr>
            <a:r>
              <a:rPr lang="fr-FR" sz="1200" i="1" dirty="0">
                <a:solidFill>
                  <a:schemeClr val="tx1">
                    <a:lumMod val="75000"/>
                  </a:schemeClr>
                </a:solidFill>
                <a:effectLst/>
                <a:latin typeface="+mj-lt"/>
              </a:rPr>
              <a:t>Vérification de la relation entre le prix au m² et la date dans le 6ème arrondissement par le calcul du coefficient de corrélation de Pearson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="" xmlns:a16="http://schemas.microsoft.com/office/drawing/2014/main" id="{8C04CF7E-E1F2-43FB-892B-C6979006364C}"/>
              </a:ext>
            </a:extLst>
          </p:cNvPr>
          <p:cNvSpPr txBox="1"/>
          <p:nvPr/>
        </p:nvSpPr>
        <p:spPr>
          <a:xfrm>
            <a:off x="5129408" y="2261381"/>
            <a:ext cx="2899775" cy="1754326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1">
            <a:schemeClr val="lt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9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Corrélation Positive dans le 6ème Arrondissement </a:t>
            </a:r>
            <a:r>
              <a:rPr lang="fr-FR" sz="900" b="1" dirty="0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 </a:t>
            </a:r>
            <a:endParaRPr lang="fr-FR" sz="900" b="1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9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Corrélation Très Forte entre Valeur Foncière et Surface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9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Implications des Corrélations </a:t>
            </a:r>
            <a:r>
              <a:rPr lang="fr-FR" sz="90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: les facteurs temporels et dimensionnels jouent un rôle crucial dans la détermination des prix immobiliers dans la région parisienne.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="" xmlns:a16="http://schemas.microsoft.com/office/drawing/2014/main" id="{F6D89CD2-6AB9-4DD9-99E1-9CC188FF6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57" y="1959478"/>
            <a:ext cx="4111670" cy="2574625"/>
          </a:xfrm>
          <a:prstGeom prst="rect">
            <a:avLst/>
          </a:prstGeom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27650" y="4595836"/>
            <a:ext cx="7626641" cy="1384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 coefficient de corrélation de Pearson entre le prix au m² et l'année est : 0.89 Valeur  p Pearson : 1.72</a:t>
            </a:r>
            <a:r>
              <a:rPr kumimoji="0" lang="fr-FR" altLang="fr-FR" sz="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27650" y="4781863"/>
            <a:ext cx="6781514" cy="1384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 coefficient de corrélation de Pearson entre la valeur foncière et la surface est : 0.9977572898250295   P-value : 0.0</a:t>
            </a:r>
            <a:r>
              <a:rPr kumimoji="0" lang="fr-FR" altLang="fr-FR" sz="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575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7649" y="500764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5290" algn="l" rtl="0">
              <a:spcBef>
                <a:spcPts val="0"/>
              </a:spcBef>
              <a:spcAft>
                <a:spcPts val="0"/>
              </a:spcAft>
              <a:buSzPts val="2940"/>
              <a:buFont typeface="Montserrat"/>
              <a:buAutoNum type="romanUcPeriod"/>
            </a:pPr>
            <a:r>
              <a:rPr lang="fr" sz="2940" dirty="0">
                <a:latin typeface="Montserrat"/>
                <a:ea typeface="Montserrat"/>
                <a:cs typeface="Montserrat"/>
                <a:sym typeface="Montserrat"/>
              </a:rPr>
              <a:t>Analyse du marché de l’immobilier</a:t>
            </a:r>
            <a:endParaRPr sz="2520" dirty="0"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167425" y="1200754"/>
            <a:ext cx="8686800" cy="38026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indent="0" algn="ctr">
              <a:buNone/>
            </a:pPr>
            <a:r>
              <a:rPr lang="fr-FR" sz="1400" i="1" dirty="0">
                <a:solidFill>
                  <a:schemeClr val="tx1">
                    <a:lumMod val="75000"/>
                  </a:schemeClr>
                </a:solidFill>
                <a:effectLst/>
                <a:latin typeface="+mj-lt"/>
              </a:rPr>
              <a:t>Analyse des locaux industriels, commerciaux et assimilés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="" xmlns:a16="http://schemas.microsoft.com/office/drawing/2014/main" id="{001DACEC-9D58-49F1-8E50-6AB78A076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967" y="3690554"/>
            <a:ext cx="2357652" cy="131288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8" name="Image 7">
            <a:extLst>
              <a:ext uri="{FF2B5EF4-FFF2-40B4-BE49-F238E27FC236}">
                <a16:creationId xmlns="" xmlns:a16="http://schemas.microsoft.com/office/drawing/2014/main" id="{92834D6E-8996-44A7-8071-F149BEA4A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0" y="1570909"/>
            <a:ext cx="3541705" cy="2119645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918364" y="1570909"/>
            <a:ext cx="381671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Ce graphique montre l’évolution du prix au mètre carré entre 2017 et 2021 pour deux types de biens : les </a:t>
            </a:r>
            <a:r>
              <a:rPr kumimoji="0" lang="fr-FR" altLang="fr-FR" sz="12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locaux commerciaux</a:t>
            </a:r>
            <a:r>
              <a:rPr kumimoji="0" lang="fr-FR" altLang="fr-FR" sz="12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(en bleu) et les </a:t>
            </a:r>
            <a:r>
              <a:rPr kumimoji="0" lang="fr-FR" altLang="fr-FR" sz="12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appartements</a:t>
            </a:r>
            <a:r>
              <a:rPr kumimoji="0" lang="fr-FR" altLang="fr-FR" sz="12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(en rouge).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Analyse :</a:t>
            </a:r>
            <a:endParaRPr kumimoji="0" lang="fr-FR" altLang="fr-FR" sz="12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Le prix au m² des </a:t>
            </a:r>
            <a:r>
              <a:rPr kumimoji="0" lang="fr-FR" altLang="fr-FR" sz="12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locaux commerciaux</a:t>
            </a:r>
            <a:r>
              <a:rPr kumimoji="0" lang="fr-FR" altLang="fr-FR" sz="12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a connu une </a:t>
            </a:r>
            <a:r>
              <a:rPr kumimoji="0" lang="fr-FR" altLang="fr-FR" sz="12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hausse continue</a:t>
            </a:r>
            <a:r>
              <a:rPr kumimoji="0" lang="fr-FR" altLang="fr-FR" sz="12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, passant d’environ </a:t>
            </a:r>
            <a:r>
              <a:rPr kumimoji="0" lang="fr-FR" altLang="fr-FR" sz="12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11 000 € en 2017 à plus de 12 000 € en 2021</a:t>
            </a:r>
            <a:r>
              <a:rPr kumimoji="0" lang="fr-FR" altLang="fr-FR" sz="12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, avec une </a:t>
            </a:r>
            <a:r>
              <a:rPr kumimoji="0" lang="fr-FR" altLang="fr-FR" sz="12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stabilité remarquable</a:t>
            </a:r>
            <a:r>
              <a:rPr kumimoji="0" lang="fr-FR" altLang="fr-FR" sz="12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même en période post- Covid.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En revanche, le prix au m² des </a:t>
            </a:r>
            <a:r>
              <a:rPr kumimoji="0" lang="fr-FR" altLang="fr-FR" sz="12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appartements</a:t>
            </a:r>
            <a:r>
              <a:rPr kumimoji="0" lang="fr-FR" altLang="fr-FR" sz="12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a d'abord progressé jusqu’en 2020 (~10 700 €), puis a </a:t>
            </a:r>
            <a:r>
              <a:rPr kumimoji="0" lang="fr-FR" altLang="fr-FR" sz="12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légèrement baissé en 2021</a:t>
            </a:r>
            <a:r>
              <a:rPr kumimoji="0" lang="fr-FR" altLang="fr-FR" sz="12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(~10 450 €).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Conclusion :</a:t>
            </a:r>
            <a:endParaRPr kumimoji="0" lang="fr-FR" altLang="fr-FR" sz="12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Cela souligne une </a:t>
            </a:r>
            <a:r>
              <a:rPr kumimoji="0" lang="fr-FR" altLang="fr-FR" sz="12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résilience plus forte</a:t>
            </a:r>
            <a:r>
              <a:rPr kumimoji="0" lang="fr-FR" altLang="fr-FR" sz="12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du segment </a:t>
            </a:r>
            <a:r>
              <a:rPr kumimoji="0" lang="fr-FR" altLang="fr-FR" sz="12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corporate</a:t>
            </a:r>
            <a:r>
              <a:rPr kumimoji="0" lang="fr-FR" altLang="fr-FR" sz="12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(locaux commerciaux) face aux fluctuations du marché. Il peut donc constituer une </a:t>
            </a:r>
            <a:r>
              <a:rPr kumimoji="0" lang="fr-FR" altLang="fr-FR" sz="12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priorité stratégique</a:t>
            </a:r>
            <a:r>
              <a:rPr kumimoji="0" lang="fr-FR" altLang="fr-FR" sz="12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pour la conservation ou le développement d’actifs.</a:t>
            </a:r>
          </a:p>
        </p:txBody>
      </p:sp>
    </p:spTree>
    <p:extLst>
      <p:ext uri="{BB962C8B-B14F-4D97-AF65-F5344CB8AC3E}">
        <p14:creationId xmlns:p14="http://schemas.microsoft.com/office/powerpoint/2010/main" val="2117758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7649" y="500764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5290" algn="l" rtl="0">
              <a:spcBef>
                <a:spcPts val="0"/>
              </a:spcBef>
              <a:spcAft>
                <a:spcPts val="0"/>
              </a:spcAft>
              <a:buSzPts val="2940"/>
              <a:buFont typeface="Montserrat"/>
              <a:buAutoNum type="romanUcPeriod"/>
            </a:pPr>
            <a:r>
              <a:rPr lang="fr" sz="2940" dirty="0">
                <a:latin typeface="Montserrat"/>
                <a:ea typeface="Montserrat"/>
                <a:cs typeface="Montserrat"/>
                <a:sym typeface="Montserrat"/>
              </a:rPr>
              <a:t>Analyse du marché de l’immobilier</a:t>
            </a:r>
            <a:endParaRPr sz="2520" dirty="0"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167425" y="1200754"/>
            <a:ext cx="8686800" cy="38026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indent="0">
              <a:buNone/>
            </a:pPr>
            <a:r>
              <a:rPr lang="fr-FR" sz="1400" i="1" dirty="0" smtClean="0">
                <a:solidFill>
                  <a:schemeClr val="tx1">
                    <a:lumMod val="75000"/>
                  </a:schemeClr>
                </a:solidFill>
                <a:effectLst/>
                <a:latin typeface="+mj-lt"/>
              </a:rPr>
              <a:t>LE 28-07-2025  DANS LE 20 éme:</a:t>
            </a:r>
          </a:p>
          <a:p>
            <a:pPr marL="146050" indent="0">
              <a:buNone/>
            </a:pPr>
            <a:endParaRPr lang="fr-FR" sz="1400" i="1" dirty="0">
              <a:solidFill>
                <a:schemeClr val="tx1">
                  <a:lumMod val="75000"/>
                </a:schemeClr>
              </a:solidFill>
              <a:effectLst/>
              <a:latin typeface="+mj-lt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25" y="1683064"/>
            <a:ext cx="3988939" cy="239710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3509" y="1672936"/>
            <a:ext cx="4430716" cy="34705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32788" y="4172471"/>
            <a:ext cx="37395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6FC0"/>
                </a:solidFill>
                <a:latin typeface="Lato" panose="020B0604020202020204" charset="0"/>
              </a:rPr>
              <a:t>Ceci confirme donc que les prix augmentent en fonction des </a:t>
            </a:r>
            <a:r>
              <a:rPr lang="fr-FR" dirty="0" smtClean="0">
                <a:solidFill>
                  <a:srgbClr val="006FC0"/>
                </a:solidFill>
                <a:latin typeface="Lato" panose="020B0604020202020204" charset="0"/>
              </a:rPr>
              <a:t>années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4869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727800" y="446872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endParaRPr lang="fr-FR"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ZoneTexte 5">
            <a:extLst>
              <a:ext uri="{FF2B5EF4-FFF2-40B4-BE49-F238E27FC236}">
                <a16:creationId xmlns="" xmlns:a16="http://schemas.microsoft.com/office/drawing/2014/main" id="{2FD7D3FE-08BF-4319-A524-EAC8E63805B5}"/>
              </a:ext>
            </a:extLst>
          </p:cNvPr>
          <p:cNvSpPr txBox="1"/>
          <p:nvPr/>
        </p:nvSpPr>
        <p:spPr>
          <a:xfrm>
            <a:off x="2552178" y="2759791"/>
            <a:ext cx="17004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fr-FR" sz="900" dirty="0">
                <a:solidFill>
                  <a:schemeClr val="bg1"/>
                </a:solidFill>
                <a:latin typeface="+mj-lt"/>
              </a:rPr>
              <a:t>Préparation des données.</a:t>
            </a:r>
          </a:p>
          <a:p>
            <a:pPr marL="171450" indent="-1714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fr-FR" sz="900" dirty="0">
                <a:solidFill>
                  <a:schemeClr val="bg1"/>
                </a:solidFill>
                <a:latin typeface="+mj-lt"/>
              </a:rPr>
              <a:t>L’utilisation de la fonction train_test_split </a:t>
            </a:r>
          </a:p>
          <a:p>
            <a:pPr marL="171450" indent="-1714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fr-FR" sz="900" dirty="0">
                <a:solidFill>
                  <a:schemeClr val="bg1"/>
                </a:solidFill>
                <a:latin typeface="+mj-lt"/>
              </a:rPr>
              <a:t>Entraînement du modèle de régression linéaire Prédire la valeur foncière des biens immobiliers .</a:t>
            </a:r>
          </a:p>
          <a:p>
            <a:pPr marL="171450" indent="-1714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fr-FR" sz="900" dirty="0">
                <a:solidFill>
                  <a:schemeClr val="bg1"/>
                </a:solidFill>
                <a:latin typeface="+mj-lt"/>
              </a:rPr>
              <a:t>L’évaluation du modèle avec MAE.</a:t>
            </a:r>
          </a:p>
          <a:p>
            <a:endParaRPr lang="fr-FR" sz="900" dirty="0"/>
          </a:p>
        </p:txBody>
      </p:sp>
      <p:sp>
        <p:nvSpPr>
          <p:cNvPr id="30" name="ZoneTexte 29">
            <a:extLst>
              <a:ext uri="{FF2B5EF4-FFF2-40B4-BE49-F238E27FC236}">
                <a16:creationId xmlns="" xmlns:a16="http://schemas.microsoft.com/office/drawing/2014/main" id="{A201554C-44D6-4F62-9D19-90F102FCCE98}"/>
              </a:ext>
            </a:extLst>
          </p:cNvPr>
          <p:cNvSpPr txBox="1"/>
          <p:nvPr/>
        </p:nvSpPr>
        <p:spPr>
          <a:xfrm>
            <a:off x="721812" y="546629"/>
            <a:ext cx="574318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" sz="3000" b="1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II. Méthodologie suivie </a:t>
            </a:r>
            <a:endParaRPr lang="fr-FR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46677" y="3090631"/>
            <a:ext cx="2249036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05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Étude du prix/m² selon le type de bien et arrondissement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05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Corrélations entre valeur foncière, surface, date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05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Détection de tendances et anomalies</a:t>
            </a: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5721927" y="2929049"/>
            <a:ext cx="2071255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05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Application du modèle sur le portefeuille client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05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Estimation de la valeur au 31/12/2022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05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Résultat : Corporate = 98 M€ / Particulier = 72 M€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05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Aide à la décision stratégique pour l’investissement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14688" y="1274749"/>
            <a:ext cx="850028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fr-FR" altLang="fr-FR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Préparation des </a:t>
            </a:r>
            <a:r>
              <a:rPr lang="fr-FR" altLang="fr-FR" b="1" dirty="0">
                <a:solidFill>
                  <a:schemeClr val="bg2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données pour la régression linéaire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b="1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Importation des données marché + portefeuille client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Suppression des doublons et valeurs aberrantes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Transformation des colonnes catégorielles code_postal et type_local avec </a:t>
            </a:r>
            <a:r>
              <a:rPr kumimoji="0" lang="fr-FR" altLang="fr-FR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One Hot Encoding</a:t>
            </a:r>
            <a:endParaRPr kumimoji="0" lang="fr-FR" altLang="fr-FR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Création de la variable cible : </a:t>
            </a:r>
            <a:r>
              <a:rPr kumimoji="0" lang="fr-FR" altLang="fr-FR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valeur foncière</a:t>
            </a:r>
            <a:endParaRPr kumimoji="0" lang="fr-FR" altLang="fr-FR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Création de variables prédictives : </a:t>
            </a:r>
            <a:r>
              <a:rPr kumimoji="0" lang="fr-FR" altLang="fr-FR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surface réelle, année, code_postal, type_local</a:t>
            </a:r>
            <a:endParaRPr kumimoji="0" lang="fr-FR" altLang="fr-FR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9" name="Picture 3" descr="One-hot encoding categorical variables - Train in Data's Blo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51" y="2962013"/>
            <a:ext cx="2299095" cy="2033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2988420" y="3439366"/>
            <a:ext cx="151676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One hot encoder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187" y="2892463"/>
            <a:ext cx="3665615" cy="2172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585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727800" y="446872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endParaRPr lang="fr-FR"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ZoneTexte 13">
            <a:extLst>
              <a:ext uri="{FF2B5EF4-FFF2-40B4-BE49-F238E27FC236}">
                <a16:creationId xmlns="" xmlns:a16="http://schemas.microsoft.com/office/drawing/2014/main" id="{2654F928-7B4C-41FE-8931-5B1DDFC874F9}"/>
              </a:ext>
            </a:extLst>
          </p:cNvPr>
          <p:cNvSpPr txBox="1"/>
          <p:nvPr/>
        </p:nvSpPr>
        <p:spPr>
          <a:xfrm>
            <a:off x="4744233" y="2708962"/>
            <a:ext cx="17004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fr-FR" sz="900" dirty="0">
                <a:solidFill>
                  <a:schemeClr val="bg1"/>
                </a:solidFill>
                <a:latin typeface="+mj-lt"/>
              </a:rPr>
              <a:t>Préparation des données (portefeuille_actifs).</a:t>
            </a:r>
          </a:p>
          <a:p>
            <a:pPr marL="171450" indent="-1714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fr-FR" sz="900" dirty="0">
                <a:solidFill>
                  <a:schemeClr val="bg1"/>
                </a:solidFill>
                <a:latin typeface="+mj-lt"/>
              </a:rPr>
              <a:t>Entraîner le modèle de régression linéaire.</a:t>
            </a:r>
          </a:p>
          <a:p>
            <a:pPr marL="171450" indent="-1714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fr-FR" sz="900" dirty="0">
                <a:solidFill>
                  <a:schemeClr val="bg1"/>
                </a:solidFill>
                <a:latin typeface="+mj-lt"/>
              </a:rPr>
              <a:t>Prédiction des valeurs foncières.</a:t>
            </a:r>
          </a:p>
          <a:p>
            <a:pPr marL="171450" indent="-1714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fr-FR" sz="900" dirty="0">
                <a:solidFill>
                  <a:schemeClr val="bg1"/>
                </a:solidFill>
                <a:latin typeface="+mj-lt"/>
              </a:rPr>
              <a:t>P</a:t>
            </a:r>
            <a:r>
              <a:rPr lang="fr-FR" sz="900" b="0" i="0" dirty="0">
                <a:solidFill>
                  <a:schemeClr val="bg1"/>
                </a:solidFill>
                <a:effectLst/>
                <a:latin typeface="+mj-lt"/>
              </a:rPr>
              <a:t>rédire la valorisation future du portefeuille actif du client.</a:t>
            </a:r>
            <a:endParaRPr lang="fr-FR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="" xmlns:a16="http://schemas.microsoft.com/office/drawing/2014/main" id="{A201554C-44D6-4F62-9D19-90F102FCCE98}"/>
              </a:ext>
            </a:extLst>
          </p:cNvPr>
          <p:cNvSpPr txBox="1"/>
          <p:nvPr/>
        </p:nvSpPr>
        <p:spPr>
          <a:xfrm>
            <a:off x="721812" y="546629"/>
            <a:ext cx="574318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" sz="3000" b="1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II. Méthodologie suivie </a:t>
            </a:r>
            <a:endParaRPr lang="fr-FR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46677" y="3090631"/>
            <a:ext cx="2249036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05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Étude du prix/m² selon le type de bien et arrondissement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05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Corrélations entre valeur foncière, surface, date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05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Détection de tendances et anomalies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46677" y="1517019"/>
            <a:ext cx="8500280" cy="200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b="1" dirty="0" smtClean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Entraînement </a:t>
            </a:r>
            <a:r>
              <a:rPr lang="fr-FR" sz="18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de l’algorithme de régression </a:t>
            </a:r>
            <a:r>
              <a:rPr lang="fr-FR" sz="1800" b="1" dirty="0" smtClean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linéaire :</a:t>
            </a:r>
            <a:endParaRPr lang="fr-FR" sz="1800" dirty="0" smtClean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800" dirty="0" smtClean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r>
              <a:rPr lang="fr-FR" dirty="0" smtClean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Séparation </a:t>
            </a:r>
            <a:r>
              <a:rPr lang="fr-FR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du jeu de données avec train_test_split (33 % test)</a:t>
            </a:r>
          </a:p>
          <a:p>
            <a:r>
              <a:rPr lang="fr-FR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Entraînement du modèle sur 2/3 des données (67 %)</a:t>
            </a:r>
          </a:p>
          <a:p>
            <a:r>
              <a:rPr lang="fr-FR" dirty="0" smtClean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- Métrique </a:t>
            </a:r>
            <a:r>
              <a:rPr lang="fr-FR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choisie : erreur moyenne absolue (MAE)</a:t>
            </a:r>
          </a:p>
          <a:p>
            <a:r>
              <a:rPr lang="fr-FR" dirty="0" smtClean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- Résultat </a:t>
            </a:r>
            <a:r>
              <a:rPr lang="fr-FR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obtenu : </a:t>
            </a:r>
            <a:r>
              <a:rPr lang="fr-FR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MAE</a:t>
            </a:r>
            <a:r>
              <a:rPr lang="fr-FR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 sur la prédiction de la valeur foncière = 8,80 %</a:t>
            </a:r>
          </a:p>
          <a:p>
            <a:r>
              <a:rPr lang="fr-FR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un modèle stable et satisfaisant, en dessous du seuil critique de 10 %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109" y="1100628"/>
            <a:ext cx="2369073" cy="397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795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727800" y="446872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endParaRPr lang="fr-FR"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ZoneTexte 13">
            <a:extLst>
              <a:ext uri="{FF2B5EF4-FFF2-40B4-BE49-F238E27FC236}">
                <a16:creationId xmlns="" xmlns:a16="http://schemas.microsoft.com/office/drawing/2014/main" id="{2654F928-7B4C-41FE-8931-5B1DDFC874F9}"/>
              </a:ext>
            </a:extLst>
          </p:cNvPr>
          <p:cNvSpPr txBox="1"/>
          <p:nvPr/>
        </p:nvSpPr>
        <p:spPr>
          <a:xfrm>
            <a:off x="4744233" y="2708962"/>
            <a:ext cx="17004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fr-FR" sz="900" dirty="0">
                <a:solidFill>
                  <a:schemeClr val="bg1"/>
                </a:solidFill>
                <a:latin typeface="+mj-lt"/>
              </a:rPr>
              <a:t>Préparation des données (portefeuille_actifs).</a:t>
            </a:r>
          </a:p>
          <a:p>
            <a:pPr marL="171450" indent="-1714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fr-FR" sz="900" dirty="0">
                <a:solidFill>
                  <a:schemeClr val="bg1"/>
                </a:solidFill>
                <a:latin typeface="+mj-lt"/>
              </a:rPr>
              <a:t>Entraîner le modèle de régression linéaire.</a:t>
            </a:r>
          </a:p>
          <a:p>
            <a:pPr marL="171450" indent="-1714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fr-FR" sz="900" dirty="0">
                <a:solidFill>
                  <a:schemeClr val="bg1"/>
                </a:solidFill>
                <a:latin typeface="+mj-lt"/>
              </a:rPr>
              <a:t>Prédiction des valeurs foncières.</a:t>
            </a:r>
          </a:p>
          <a:p>
            <a:pPr marL="171450" indent="-1714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fr-FR" sz="900" dirty="0">
                <a:solidFill>
                  <a:schemeClr val="bg1"/>
                </a:solidFill>
                <a:latin typeface="+mj-lt"/>
              </a:rPr>
              <a:t>P</a:t>
            </a:r>
            <a:r>
              <a:rPr lang="fr-FR" sz="900" b="0" i="0" dirty="0">
                <a:solidFill>
                  <a:schemeClr val="bg1"/>
                </a:solidFill>
                <a:effectLst/>
                <a:latin typeface="+mj-lt"/>
              </a:rPr>
              <a:t>rédire la valorisation future du portefeuille actif du client.</a:t>
            </a:r>
            <a:endParaRPr lang="fr-FR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="" xmlns:a16="http://schemas.microsoft.com/office/drawing/2014/main" id="{A201554C-44D6-4F62-9D19-90F102FCCE98}"/>
              </a:ext>
            </a:extLst>
          </p:cNvPr>
          <p:cNvSpPr txBox="1"/>
          <p:nvPr/>
        </p:nvSpPr>
        <p:spPr>
          <a:xfrm>
            <a:off x="721812" y="546629"/>
            <a:ext cx="574318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" sz="3000" b="1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II. Méthodologie suivie </a:t>
            </a:r>
            <a:endParaRPr lang="fr-FR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18678" y="1429339"/>
            <a:ext cx="8500280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b="1" dirty="0" smtClean="0"/>
              <a:t>Test </a:t>
            </a:r>
            <a:r>
              <a:rPr lang="fr-FR" sz="1800" b="1" dirty="0"/>
              <a:t>de corrélation et pertinence des </a:t>
            </a:r>
            <a:r>
              <a:rPr lang="fr-FR" sz="1800" b="1" dirty="0" smtClean="0"/>
              <a:t>variables</a:t>
            </a:r>
            <a:endParaRPr lang="fr-FR" dirty="0" smtClean="0"/>
          </a:p>
          <a:p>
            <a:r>
              <a:rPr lang="fr-FR" dirty="0" smtClean="0"/>
              <a:t>-Test </a:t>
            </a:r>
            <a:r>
              <a:rPr lang="fr-FR" dirty="0"/>
              <a:t>de </a:t>
            </a:r>
            <a:r>
              <a:rPr lang="fr-FR" b="1" dirty="0"/>
              <a:t>corrélation de Pearson</a:t>
            </a:r>
            <a:r>
              <a:rPr lang="fr-FR" dirty="0"/>
              <a:t> </a:t>
            </a:r>
            <a:r>
              <a:rPr lang="fr-FR" dirty="0" smtClean="0"/>
              <a:t>entre :</a:t>
            </a:r>
          </a:p>
          <a:p>
            <a:pPr lvl="1"/>
            <a:r>
              <a:rPr lang="fr-FR" dirty="0" smtClean="0"/>
              <a:t>Prix/m² </a:t>
            </a:r>
            <a:r>
              <a:rPr lang="fr-FR" dirty="0"/>
              <a:t>et surface réelle → </a:t>
            </a:r>
            <a:r>
              <a:rPr lang="fr-FR" b="1" dirty="0"/>
              <a:t>corrélation modérée positive</a:t>
            </a:r>
            <a:endParaRPr lang="fr-FR" dirty="0"/>
          </a:p>
          <a:p>
            <a:pPr lvl="1"/>
            <a:r>
              <a:rPr lang="fr-FR" dirty="0"/>
              <a:t>Prix/m² et année → </a:t>
            </a:r>
            <a:r>
              <a:rPr lang="fr-FR" b="1" dirty="0"/>
              <a:t>corrélation positive</a:t>
            </a:r>
            <a:endParaRPr lang="fr-FR" dirty="0"/>
          </a:p>
          <a:p>
            <a:r>
              <a:rPr lang="fr-FR" dirty="0"/>
              <a:t>Ces résultats justifient l'utilisation de ces variables pour la prédiction</a:t>
            </a:r>
          </a:p>
          <a:p>
            <a:r>
              <a:rPr lang="fr-FR" dirty="0"/>
              <a:t>Visualisations des relations linéaires confirmées (ex : </a:t>
            </a:r>
            <a:r>
              <a:rPr lang="fr-FR" dirty="0" smtClean="0"/>
              <a:t>courbes)</a:t>
            </a:r>
            <a:endParaRPr lang="fr-FR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23156"/>
            <a:ext cx="2636044" cy="17131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86062" y="3726976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fr-FR" sz="800" b="1" dirty="0" smtClean="0"/>
              <a:t>Le </a:t>
            </a:r>
            <a:r>
              <a:rPr lang="fr-FR" sz="800" b="1" dirty="0"/>
              <a:t>test de corrélation de Pearson </a:t>
            </a:r>
            <a:r>
              <a:rPr lang="fr-FR" sz="800" dirty="0"/>
              <a:t>mesure la force et la direction de la relation linéaire entre deux variables quantitatives. Il est représenté par le coefficient de corrélation r, qui varie entre -1 et </a:t>
            </a:r>
            <a:r>
              <a:rPr lang="fr-FR" sz="800" dirty="0" smtClean="0"/>
              <a:t>1.</a:t>
            </a:r>
          </a:p>
          <a:p>
            <a:pPr lvl="1"/>
            <a:r>
              <a:rPr lang="fr-FR" sz="800" dirty="0" smtClean="0"/>
              <a:t>Le </a:t>
            </a:r>
            <a:r>
              <a:rPr lang="fr-FR" sz="800" dirty="0"/>
              <a:t>test Pearson utilise des calculs mathématiques qui fonctionnent mieux quand les points sont répartis symétriquement autour d'une moyenne.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24802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727800" y="446872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endParaRPr lang="fr-FR"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ZoneTexte 5">
            <a:extLst>
              <a:ext uri="{FF2B5EF4-FFF2-40B4-BE49-F238E27FC236}">
                <a16:creationId xmlns="" xmlns:a16="http://schemas.microsoft.com/office/drawing/2014/main" id="{2FD7D3FE-08BF-4319-A524-EAC8E63805B5}"/>
              </a:ext>
            </a:extLst>
          </p:cNvPr>
          <p:cNvSpPr txBox="1"/>
          <p:nvPr/>
        </p:nvSpPr>
        <p:spPr>
          <a:xfrm>
            <a:off x="2552178" y="2759791"/>
            <a:ext cx="17004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fr-FR" sz="900" dirty="0">
                <a:solidFill>
                  <a:schemeClr val="bg1"/>
                </a:solidFill>
                <a:latin typeface="+mj-lt"/>
              </a:rPr>
              <a:t>Préparation des données.</a:t>
            </a:r>
          </a:p>
          <a:p>
            <a:pPr marL="171450" indent="-1714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fr-FR" sz="900" dirty="0">
                <a:solidFill>
                  <a:schemeClr val="bg1"/>
                </a:solidFill>
                <a:latin typeface="+mj-lt"/>
              </a:rPr>
              <a:t>L’utilisation de la fonction train_test_split </a:t>
            </a:r>
          </a:p>
          <a:p>
            <a:pPr marL="171450" indent="-1714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fr-FR" sz="900" dirty="0">
                <a:solidFill>
                  <a:schemeClr val="bg1"/>
                </a:solidFill>
                <a:latin typeface="+mj-lt"/>
              </a:rPr>
              <a:t>Entraînement du modèle de régression linéaire Prédire la valeur foncière des biens immobiliers .</a:t>
            </a:r>
          </a:p>
          <a:p>
            <a:pPr marL="171450" indent="-1714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fr-FR" sz="900" dirty="0">
                <a:solidFill>
                  <a:schemeClr val="bg1"/>
                </a:solidFill>
                <a:latin typeface="+mj-lt"/>
              </a:rPr>
              <a:t>L’évaluation du modèle avec MAE.</a:t>
            </a:r>
          </a:p>
          <a:p>
            <a:endParaRPr lang="fr-FR" sz="900" dirty="0"/>
          </a:p>
        </p:txBody>
      </p:sp>
      <p:sp>
        <p:nvSpPr>
          <p:cNvPr id="14" name="ZoneTexte 13">
            <a:extLst>
              <a:ext uri="{FF2B5EF4-FFF2-40B4-BE49-F238E27FC236}">
                <a16:creationId xmlns="" xmlns:a16="http://schemas.microsoft.com/office/drawing/2014/main" id="{2654F928-7B4C-41FE-8931-5B1DDFC874F9}"/>
              </a:ext>
            </a:extLst>
          </p:cNvPr>
          <p:cNvSpPr txBox="1"/>
          <p:nvPr/>
        </p:nvSpPr>
        <p:spPr>
          <a:xfrm>
            <a:off x="4744233" y="2708962"/>
            <a:ext cx="17004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fr-FR" sz="900" dirty="0">
                <a:solidFill>
                  <a:schemeClr val="bg1"/>
                </a:solidFill>
                <a:latin typeface="+mj-lt"/>
              </a:rPr>
              <a:t>Préparation des données (portefeuille_actifs).</a:t>
            </a:r>
          </a:p>
          <a:p>
            <a:pPr marL="171450" indent="-1714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fr-FR" sz="900" dirty="0">
                <a:solidFill>
                  <a:schemeClr val="bg1"/>
                </a:solidFill>
                <a:latin typeface="+mj-lt"/>
              </a:rPr>
              <a:t>Entraîner le modèle de régression linéaire.</a:t>
            </a:r>
          </a:p>
          <a:p>
            <a:pPr marL="171450" indent="-1714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fr-FR" sz="900" dirty="0">
                <a:solidFill>
                  <a:schemeClr val="bg1"/>
                </a:solidFill>
                <a:latin typeface="+mj-lt"/>
              </a:rPr>
              <a:t>Prédiction des valeurs foncières.</a:t>
            </a:r>
          </a:p>
          <a:p>
            <a:pPr marL="171450" indent="-1714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fr-FR" sz="900" dirty="0">
                <a:solidFill>
                  <a:schemeClr val="bg1"/>
                </a:solidFill>
                <a:latin typeface="+mj-lt"/>
              </a:rPr>
              <a:t>P</a:t>
            </a:r>
            <a:r>
              <a:rPr lang="fr-FR" sz="900" b="0" i="0" dirty="0">
                <a:solidFill>
                  <a:schemeClr val="bg1"/>
                </a:solidFill>
                <a:effectLst/>
                <a:latin typeface="+mj-lt"/>
              </a:rPr>
              <a:t>rédire la valorisation future du portefeuille actif du client.</a:t>
            </a:r>
            <a:endParaRPr lang="fr-FR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="" xmlns:a16="http://schemas.microsoft.com/office/drawing/2014/main" id="{A201554C-44D6-4F62-9D19-90F102FCCE98}"/>
              </a:ext>
            </a:extLst>
          </p:cNvPr>
          <p:cNvSpPr txBox="1"/>
          <p:nvPr/>
        </p:nvSpPr>
        <p:spPr>
          <a:xfrm>
            <a:off x="721812" y="546629"/>
            <a:ext cx="574318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" sz="3000" b="1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II. Méthodologie suivie </a:t>
            </a:r>
            <a:endParaRPr lang="fr-FR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82457" y="1497907"/>
            <a:ext cx="8693161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FR" b="1" dirty="0"/>
              <a:t>Prédiction et </a:t>
            </a:r>
            <a:r>
              <a:rPr lang="fr-FR" b="1" dirty="0" smtClean="0"/>
              <a:t>Application </a:t>
            </a:r>
            <a:r>
              <a:rPr lang="fr-FR" b="1" dirty="0"/>
              <a:t>du modèle sur les données de l’entreprise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  <a:p>
            <a:r>
              <a:rPr lang="fr-FR" dirty="0"/>
              <a:t>Application du modèle au portefeuille client au </a:t>
            </a:r>
            <a:r>
              <a:rPr lang="fr-FR" b="1" dirty="0"/>
              <a:t>31/12/2022</a:t>
            </a:r>
            <a:endParaRPr lang="fr-FR" dirty="0"/>
          </a:p>
          <a:p>
            <a:r>
              <a:rPr lang="fr-FR" dirty="0"/>
              <a:t>Résultats obtenus :</a:t>
            </a:r>
          </a:p>
          <a:p>
            <a:pPr lvl="1"/>
            <a:r>
              <a:rPr lang="fr-FR" dirty="0"/>
              <a:t>Segment </a:t>
            </a:r>
            <a:r>
              <a:rPr lang="fr-FR" b="1" dirty="0"/>
              <a:t>particuliers</a:t>
            </a:r>
            <a:r>
              <a:rPr lang="fr-FR" dirty="0"/>
              <a:t> : 154 biens → </a:t>
            </a:r>
            <a:r>
              <a:rPr lang="fr-FR" b="1" dirty="0"/>
              <a:t>71,25 M€</a:t>
            </a:r>
            <a:endParaRPr lang="fr-FR" dirty="0"/>
          </a:p>
          <a:p>
            <a:pPr lvl="1"/>
            <a:r>
              <a:rPr lang="fr-FR" dirty="0"/>
              <a:t>Segment </a:t>
            </a:r>
            <a:r>
              <a:rPr lang="fr-FR" b="1" dirty="0"/>
              <a:t>corporate</a:t>
            </a:r>
            <a:r>
              <a:rPr lang="fr-FR" dirty="0"/>
              <a:t> : 121 biens → </a:t>
            </a:r>
            <a:r>
              <a:rPr lang="fr-FR" b="1" dirty="0"/>
              <a:t>98,57 M€</a:t>
            </a:r>
            <a:endParaRPr lang="fr-FR" dirty="0"/>
          </a:p>
          <a:p>
            <a:endParaRPr lang="fr-FR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smtClean="0"/>
              <a:t>Conclusion </a:t>
            </a:r>
            <a:r>
              <a:rPr lang="fr-FR" b="1" dirty="0"/>
              <a:t>: </a:t>
            </a:r>
            <a:r>
              <a:rPr lang="fr-FR" dirty="0"/>
              <a:t>le segment corporate présente </a:t>
            </a:r>
            <a:r>
              <a:rPr lang="fr-FR" b="1" dirty="0"/>
              <a:t>la plus forte valorisation</a:t>
            </a:r>
            <a:endParaRPr lang="fr-FR" dirty="0"/>
          </a:p>
          <a:p>
            <a:endParaRPr lang="fr-FR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smtClean="0"/>
              <a:t>Aide </a:t>
            </a:r>
            <a:r>
              <a:rPr lang="fr-FR" b="1" dirty="0"/>
              <a:t>à la décision : </a:t>
            </a:r>
            <a:r>
              <a:rPr lang="fr-FR" dirty="0"/>
              <a:t>recommandation de </a:t>
            </a:r>
            <a:r>
              <a:rPr lang="fr-FR" b="1" dirty="0"/>
              <a:t>vendre en priorité les biens particuliers</a:t>
            </a:r>
            <a:endParaRPr lang="fr-F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836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671000" y="640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300" dirty="0">
                <a:latin typeface="Montserrat"/>
                <a:ea typeface="Montserrat"/>
                <a:cs typeface="Montserrat"/>
                <a:sym typeface="Montserrat"/>
              </a:rPr>
              <a:t>III. Résultat des prédictions</a:t>
            </a:r>
            <a:endParaRPr sz="33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1"/>
          </p:nvPr>
        </p:nvSpPr>
        <p:spPr>
          <a:xfrm>
            <a:off x="313151" y="1437849"/>
            <a:ext cx="8467594" cy="35290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r>
              <a:rPr lang="fr-FR" sz="1000" i="1" dirty="0" smtClean="0">
                <a:solidFill>
                  <a:schemeClr val="bg2"/>
                </a:solidFill>
                <a:latin typeface="+mj-lt"/>
                <a:ea typeface="Montserrat"/>
                <a:cs typeface="Montserrat"/>
                <a:sym typeface="Montserrat"/>
              </a:rPr>
              <a:t>Valorisation </a:t>
            </a:r>
            <a:r>
              <a:rPr lang="fr-FR" sz="1000" i="1" dirty="0">
                <a:solidFill>
                  <a:schemeClr val="bg2"/>
                </a:solidFill>
                <a:latin typeface="+mj-lt"/>
                <a:ea typeface="Montserrat"/>
                <a:cs typeface="Montserrat"/>
                <a:sym typeface="Montserrat"/>
              </a:rPr>
              <a:t>prédite au 31 décembre </a:t>
            </a:r>
            <a:r>
              <a:rPr lang="fr-FR" sz="1000" i="1" dirty="0" smtClean="0">
                <a:solidFill>
                  <a:schemeClr val="bg2"/>
                </a:solidFill>
                <a:latin typeface="+mj-lt"/>
                <a:ea typeface="Montserrat"/>
                <a:cs typeface="Montserrat"/>
                <a:sym typeface="Montserrat"/>
              </a:rPr>
              <a:t>2022 :</a:t>
            </a:r>
            <a:endParaRPr lang="fr-FR" sz="1000" i="1" dirty="0">
              <a:solidFill>
                <a:schemeClr val="bg2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146050" indent="0">
              <a:buNone/>
            </a:pPr>
            <a:endParaRPr lang="fr-FR" sz="1000" i="1" dirty="0" smtClean="0">
              <a:solidFill>
                <a:schemeClr val="bg2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146050" indent="0">
              <a:buNone/>
            </a:pPr>
            <a:r>
              <a:rPr lang="fr-FR" sz="1000" i="1" dirty="0" smtClean="0">
                <a:solidFill>
                  <a:schemeClr val="bg2"/>
                </a:solidFill>
                <a:latin typeface="+mj-lt"/>
                <a:ea typeface="Montserrat"/>
                <a:cs typeface="Montserrat"/>
                <a:sym typeface="Montserrat"/>
              </a:rPr>
              <a:t>- Segment </a:t>
            </a:r>
            <a:r>
              <a:rPr lang="fr-FR" sz="1000" i="1" dirty="0">
                <a:solidFill>
                  <a:schemeClr val="bg2"/>
                </a:solidFill>
                <a:latin typeface="+mj-lt"/>
                <a:ea typeface="Montserrat"/>
                <a:cs typeface="Montserrat"/>
                <a:sym typeface="Montserrat"/>
              </a:rPr>
              <a:t>Corporate : 98 M€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1000" i="1" dirty="0">
              <a:solidFill>
                <a:schemeClr val="bg2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146050" indent="0">
              <a:buNone/>
            </a:pPr>
            <a:r>
              <a:rPr lang="fr-FR" sz="1000" i="1" dirty="0" smtClean="0">
                <a:solidFill>
                  <a:schemeClr val="bg2"/>
                </a:solidFill>
                <a:latin typeface="+mj-lt"/>
                <a:ea typeface="Montserrat"/>
                <a:cs typeface="Montserrat"/>
                <a:sym typeface="Montserrat"/>
              </a:rPr>
              <a:t>- Segment </a:t>
            </a:r>
            <a:r>
              <a:rPr lang="fr-FR" sz="1000" i="1" dirty="0">
                <a:solidFill>
                  <a:schemeClr val="bg2"/>
                </a:solidFill>
                <a:latin typeface="+mj-lt"/>
                <a:ea typeface="Montserrat"/>
                <a:cs typeface="Montserrat"/>
                <a:sym typeface="Montserrat"/>
              </a:rPr>
              <a:t>Particulier : 72 M€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1000" i="1" dirty="0">
              <a:solidFill>
                <a:schemeClr val="bg2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fr-FR" sz="1000" i="1" dirty="0" smtClean="0">
                <a:solidFill>
                  <a:schemeClr val="bg2"/>
                </a:solidFill>
                <a:latin typeface="+mj-lt"/>
                <a:ea typeface="Montserrat"/>
                <a:cs typeface="Montserrat"/>
                <a:sym typeface="Montserrat"/>
              </a:rPr>
              <a:t> Analyse :</a:t>
            </a:r>
            <a:endParaRPr lang="fr-FR" sz="1000" i="1" dirty="0">
              <a:solidFill>
                <a:schemeClr val="bg2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146050" indent="0">
              <a:buNone/>
            </a:pPr>
            <a:endParaRPr lang="fr-FR" sz="1000" i="1" dirty="0" smtClean="0">
              <a:solidFill>
                <a:schemeClr val="bg2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146050" indent="0">
              <a:buNone/>
            </a:pPr>
            <a:r>
              <a:rPr lang="fr-FR" sz="1000" i="1" dirty="0" smtClean="0">
                <a:solidFill>
                  <a:schemeClr val="bg2"/>
                </a:solidFill>
                <a:latin typeface="+mj-lt"/>
                <a:ea typeface="Montserrat"/>
                <a:cs typeface="Montserrat"/>
                <a:sym typeface="Montserrat"/>
              </a:rPr>
              <a:t>Le </a:t>
            </a:r>
            <a:r>
              <a:rPr lang="fr-FR" sz="1000" i="1" dirty="0">
                <a:solidFill>
                  <a:schemeClr val="bg2"/>
                </a:solidFill>
                <a:latin typeface="+mj-lt"/>
                <a:ea typeface="Montserrat"/>
                <a:cs typeface="Montserrat"/>
                <a:sym typeface="Montserrat"/>
              </a:rPr>
              <a:t>segment corporate présente une valorisation nettement plus élevée.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1000" i="1" dirty="0">
              <a:solidFill>
                <a:schemeClr val="bg2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146050" indent="0">
              <a:buNone/>
            </a:pPr>
            <a:r>
              <a:rPr lang="fr-FR" sz="1000" i="1" dirty="0">
                <a:solidFill>
                  <a:schemeClr val="bg2"/>
                </a:solidFill>
                <a:latin typeface="+mj-lt"/>
                <a:ea typeface="Montserrat"/>
                <a:cs typeface="Montserrat"/>
                <a:sym typeface="Montserrat"/>
              </a:rPr>
              <a:t>Il montre un potentiel économique supérieur.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1000" i="1" dirty="0">
              <a:solidFill>
                <a:schemeClr val="bg2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fr-FR" sz="1000" i="1" dirty="0" smtClean="0">
                <a:solidFill>
                  <a:schemeClr val="bg2"/>
                </a:solidFill>
                <a:latin typeface="+mj-lt"/>
                <a:ea typeface="Montserrat"/>
                <a:cs typeface="Montserrat"/>
                <a:sym typeface="Montserrat"/>
              </a:rPr>
              <a:t>implications Stratégiques :</a:t>
            </a:r>
            <a:endParaRPr lang="fr-FR" sz="1000" i="1" dirty="0">
              <a:solidFill>
                <a:schemeClr val="bg2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146050" indent="0">
              <a:buNone/>
            </a:pPr>
            <a:r>
              <a:rPr lang="fr-FR" sz="1000" i="1" dirty="0">
                <a:solidFill>
                  <a:schemeClr val="bg2"/>
                </a:solidFill>
                <a:latin typeface="+mj-lt"/>
                <a:ea typeface="Montserrat"/>
                <a:cs typeface="Montserrat"/>
                <a:sym typeface="Montserrat"/>
              </a:rPr>
              <a:t>Mieux vaut orienter les efforts de l’entreprise vers le segment corporate.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1000" i="1" dirty="0">
              <a:solidFill>
                <a:schemeClr val="bg2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146050" indent="0">
              <a:buNone/>
            </a:pPr>
            <a:r>
              <a:rPr lang="fr-FR" sz="1000" i="1" dirty="0" smtClean="0">
                <a:solidFill>
                  <a:schemeClr val="bg2"/>
                </a:solidFill>
                <a:latin typeface="+mj-lt"/>
                <a:ea typeface="Montserrat"/>
                <a:cs typeface="Montserrat"/>
                <a:sym typeface="Montserrat"/>
              </a:rPr>
              <a:t>Intérêt à développer </a:t>
            </a:r>
            <a:r>
              <a:rPr lang="fr-FR" sz="1000" i="1" dirty="0">
                <a:solidFill>
                  <a:schemeClr val="bg2"/>
                </a:solidFill>
                <a:latin typeface="+mj-lt"/>
                <a:ea typeface="Montserrat"/>
                <a:cs typeface="Montserrat"/>
                <a:sym typeface="Montserrat"/>
              </a:rPr>
              <a:t>ou renforcer les investissements dans ce type de biens.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1000" i="1" dirty="0">
              <a:solidFill>
                <a:schemeClr val="bg2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fr-FR" sz="1000" i="1" dirty="0" smtClean="0">
                <a:solidFill>
                  <a:schemeClr val="bg2"/>
                </a:solidFill>
                <a:latin typeface="+mj-lt"/>
                <a:ea typeface="Montserrat"/>
                <a:cs typeface="Montserrat"/>
                <a:sym typeface="Montserrat"/>
              </a:rPr>
              <a:t>Limites </a:t>
            </a:r>
            <a:r>
              <a:rPr lang="fr-FR" sz="1000" i="1" dirty="0">
                <a:solidFill>
                  <a:schemeClr val="bg2"/>
                </a:solidFill>
                <a:latin typeface="+mj-lt"/>
                <a:ea typeface="Montserrat"/>
                <a:cs typeface="Montserrat"/>
                <a:sym typeface="Montserrat"/>
              </a:rPr>
              <a:t>de </a:t>
            </a:r>
            <a:r>
              <a:rPr lang="fr-FR" sz="1000" i="1" dirty="0" smtClean="0">
                <a:solidFill>
                  <a:schemeClr val="bg2"/>
                </a:solidFill>
                <a:latin typeface="+mj-lt"/>
                <a:ea typeface="Montserrat"/>
                <a:cs typeface="Montserrat"/>
                <a:sym typeface="Montserrat"/>
              </a:rPr>
              <a:t>l’Estimation :</a:t>
            </a:r>
            <a:endParaRPr lang="fr-FR" sz="1000" i="1" dirty="0">
              <a:solidFill>
                <a:schemeClr val="bg2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146050" indent="0">
              <a:buNone/>
            </a:pPr>
            <a:r>
              <a:rPr lang="fr-FR" sz="1000" i="1" dirty="0" smtClean="0">
                <a:solidFill>
                  <a:schemeClr val="bg2"/>
                </a:solidFill>
                <a:latin typeface="+mj-lt"/>
                <a:ea typeface="Montserrat"/>
                <a:cs typeface="Montserrat"/>
                <a:sym typeface="Montserrat"/>
              </a:rPr>
              <a:t>Fiabilité </a:t>
            </a:r>
            <a:r>
              <a:rPr lang="fr-FR" sz="1000" i="1" dirty="0">
                <a:solidFill>
                  <a:schemeClr val="bg2"/>
                </a:solidFill>
                <a:latin typeface="+mj-lt"/>
                <a:ea typeface="Montserrat"/>
                <a:cs typeface="Montserrat"/>
                <a:sym typeface="Montserrat"/>
              </a:rPr>
              <a:t>conditionnée à la qualité des données :</a:t>
            </a:r>
          </a:p>
          <a:p>
            <a:pPr marL="146050" indent="0">
              <a:buNone/>
            </a:pPr>
            <a:r>
              <a:rPr lang="fr-FR" sz="1000" i="1" dirty="0" smtClean="0">
                <a:solidFill>
                  <a:schemeClr val="bg2"/>
                </a:solidFill>
                <a:latin typeface="+mj-lt"/>
                <a:ea typeface="Montserrat"/>
                <a:cs typeface="Montserrat"/>
                <a:sym typeface="Montserrat"/>
              </a:rPr>
              <a:t>Des </a:t>
            </a:r>
            <a:r>
              <a:rPr lang="fr-FR" sz="1000" i="1" dirty="0">
                <a:solidFill>
                  <a:schemeClr val="bg2"/>
                </a:solidFill>
                <a:latin typeface="+mj-lt"/>
                <a:ea typeface="Montserrat"/>
                <a:cs typeface="Montserrat"/>
                <a:sym typeface="Montserrat"/>
              </a:rPr>
              <a:t>données incomplètes ou biaisées peuvent fausser les prédictions.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1000" i="1" dirty="0">
              <a:solidFill>
                <a:schemeClr val="bg2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fr-FR" sz="1000" i="1" dirty="0" smtClean="0">
                <a:solidFill>
                  <a:schemeClr val="bg2"/>
                </a:solidFill>
                <a:latin typeface="+mj-lt"/>
                <a:ea typeface="Montserrat"/>
                <a:cs typeface="Montserrat"/>
                <a:sym typeface="Montserrat"/>
              </a:rPr>
              <a:t>Sensibilité </a:t>
            </a:r>
            <a:r>
              <a:rPr lang="fr-FR" sz="1000" i="1" dirty="0">
                <a:solidFill>
                  <a:schemeClr val="bg2"/>
                </a:solidFill>
                <a:latin typeface="+mj-lt"/>
                <a:ea typeface="Montserrat"/>
                <a:cs typeface="Montserrat"/>
                <a:sym typeface="Montserrat"/>
              </a:rPr>
              <a:t>aux évolutions du marché immobilier :</a:t>
            </a:r>
          </a:p>
          <a:p>
            <a:pPr marL="146050" indent="0">
              <a:buNone/>
            </a:pPr>
            <a:r>
              <a:rPr lang="fr-FR" sz="1000" i="1" dirty="0">
                <a:solidFill>
                  <a:schemeClr val="bg2"/>
                </a:solidFill>
                <a:latin typeface="+mj-lt"/>
                <a:ea typeface="Montserrat"/>
                <a:cs typeface="Montserrat"/>
                <a:sym typeface="Montserrat"/>
              </a:rPr>
              <a:t>Les tendances peuvent changer brusquement, rendant les prédictions moins fiables.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latin typeface="+mj-lt"/>
              </a:rPr>
              <a:t>Les Plus Beaux Logis de Paris</a:t>
            </a:r>
            <a:endParaRPr dirty="0">
              <a:latin typeface="+mj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latin typeface="+mj-lt"/>
              </a:rPr>
              <a:t>Partie 2</a:t>
            </a:r>
            <a:endParaRPr dirty="0">
              <a:latin typeface="+mj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subTitle" idx="1"/>
          </p:nvPr>
        </p:nvSpPr>
        <p:spPr>
          <a:xfrm>
            <a:off x="311700" y="2571750"/>
            <a:ext cx="8520600" cy="14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indent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50000"/>
            </a:pPr>
            <a:r>
              <a:rPr lang="fr" sz="2200" i="1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Titre du projet : </a:t>
            </a:r>
            <a:r>
              <a:rPr lang="fr-FR" sz="2800" b="1" i="1" dirty="0">
                <a:solidFill>
                  <a:schemeClr val="tx1"/>
                </a:solidFill>
                <a:effectLst/>
                <a:latin typeface="+mj-lt"/>
              </a:rPr>
              <a:t>Analysez l’évolution des prix de l’immobilier avec Python</a:t>
            </a:r>
            <a:endParaRPr sz="2200" i="1" dirty="0">
              <a:solidFill>
                <a:schemeClr val="tx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fr" sz="2200" i="1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Prénom </a:t>
            </a:r>
            <a:r>
              <a:rPr lang="fr" sz="2200" i="1" dirty="0" smtClean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:SAFAE		</a:t>
            </a:r>
            <a:endParaRPr sz="2200" i="1" dirty="0">
              <a:solidFill>
                <a:schemeClr val="dk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fr" sz="2200" i="1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Nom </a:t>
            </a:r>
            <a:r>
              <a:rPr lang="fr" sz="2200" i="1" dirty="0" smtClean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: LABHIH</a:t>
            </a:r>
            <a:endParaRPr sz="2200" i="1" dirty="0">
              <a:solidFill>
                <a:schemeClr val="dk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fr" sz="2200" i="1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Date : </a:t>
            </a:r>
            <a:r>
              <a:rPr lang="fr" sz="2200" i="1" dirty="0" smtClean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30/07/2025</a:t>
            </a:r>
            <a:endParaRPr sz="2200" i="1" dirty="0">
              <a:solidFill>
                <a:schemeClr val="dk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92" name="Google Shape;9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400" y="89925"/>
            <a:ext cx="3669750" cy="1645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18847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727950" y="554562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fr" sz="3300" dirty="0">
                <a:latin typeface="Montserrat"/>
                <a:ea typeface="Montserrat"/>
                <a:cs typeface="Montserrat"/>
                <a:sym typeface="Montserrat"/>
              </a:rPr>
              <a:t>I. Méthodologie suivie </a:t>
            </a:r>
            <a:endParaRPr sz="33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ZoneTexte 4">
            <a:extLst>
              <a:ext uri="{FF2B5EF4-FFF2-40B4-BE49-F238E27FC236}">
                <a16:creationId xmlns="" xmlns:a16="http://schemas.microsoft.com/office/drawing/2014/main" id="{7EC91BD5-59A5-4051-9DB0-83C1B597EA3B}"/>
              </a:ext>
            </a:extLst>
          </p:cNvPr>
          <p:cNvSpPr txBox="1"/>
          <p:nvPr/>
        </p:nvSpPr>
        <p:spPr>
          <a:xfrm>
            <a:off x="927280" y="2980693"/>
            <a:ext cx="1397357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fr-FR" sz="9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cs typeface="Arial"/>
                <a:sym typeface="Arial"/>
              </a:rPr>
              <a:t>Préparation des données.</a:t>
            </a:r>
          </a:p>
          <a:p>
            <a:pPr marL="171450" indent="-1714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fr-FR" sz="900" dirty="0">
                <a:solidFill>
                  <a:schemeClr val="bg1"/>
                </a:solidFill>
                <a:latin typeface="+mj-lt"/>
              </a:rPr>
              <a:t>Sélection des variables pertinentes</a:t>
            </a:r>
          </a:p>
          <a:p>
            <a:pPr marL="171450" indent="-1714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fr-FR" sz="900" dirty="0">
                <a:solidFill>
                  <a:schemeClr val="bg1"/>
                </a:solidFill>
                <a:latin typeface="+mj-lt"/>
              </a:rPr>
              <a:t>Nettoyage des données</a:t>
            </a:r>
            <a:endParaRPr kumimoji="0" lang="fr-FR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cs typeface="Arial"/>
              <a:sym typeface="Arial"/>
            </a:endParaRPr>
          </a:p>
          <a:p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="" xmlns:a16="http://schemas.microsoft.com/office/drawing/2014/main" id="{D862746D-CA42-43C2-99AA-DA8644EE8BEB}"/>
              </a:ext>
            </a:extLst>
          </p:cNvPr>
          <p:cNvSpPr txBox="1"/>
          <p:nvPr/>
        </p:nvSpPr>
        <p:spPr>
          <a:xfrm>
            <a:off x="4790940" y="2949003"/>
            <a:ext cx="1571223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tabLst/>
              <a:defRPr/>
            </a:pPr>
            <a:r>
              <a:rPr lang="fr-FR" sz="900" dirty="0">
                <a:solidFill>
                  <a:schemeClr val="bg1"/>
                </a:solidFill>
                <a:latin typeface="+mj-lt"/>
              </a:rPr>
              <a:t>Application de KMeans et Labellisation</a:t>
            </a:r>
          </a:p>
          <a:p>
            <a:pPr marL="171450" marR="0" lvl="0" indent="-1714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fr-FR" sz="900" dirty="0">
                <a:solidFill>
                  <a:schemeClr val="bg1"/>
                </a:solidFill>
                <a:latin typeface="+mj-lt"/>
              </a:rPr>
              <a:t>L'étiquetage</a:t>
            </a:r>
            <a:r>
              <a:rPr lang="fr-FR" sz="1050" dirty="0"/>
              <a:t> </a:t>
            </a:r>
            <a:r>
              <a:rPr lang="fr-FR" sz="900" dirty="0">
                <a:solidFill>
                  <a:schemeClr val="bg1"/>
                </a:solidFill>
                <a:latin typeface="+mj-lt"/>
              </a:rPr>
              <a:t>de biens immobiliers selon son appartenance .</a:t>
            </a:r>
          </a:p>
          <a:p>
            <a:pPr marL="171450" marR="0" lvl="0" indent="-1714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fr-FR" sz="900" dirty="0">
                <a:solidFill>
                  <a:schemeClr val="bg1"/>
                </a:solidFill>
                <a:latin typeface="+mj-lt"/>
              </a:rPr>
              <a:t>Déterminer quel cluster correspond à quel type de bien</a:t>
            </a:r>
            <a:endParaRPr kumimoji="0" lang="fr-FR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n-ea"/>
              <a:cs typeface="Arial"/>
              <a:sym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="" xmlns:a16="http://schemas.microsoft.com/office/drawing/2014/main" id="{666DD25E-7023-452A-A675-8D5FEB7BED89}"/>
              </a:ext>
            </a:extLst>
          </p:cNvPr>
          <p:cNvSpPr txBox="1"/>
          <p:nvPr/>
        </p:nvSpPr>
        <p:spPr>
          <a:xfrm>
            <a:off x="6787172" y="2993313"/>
            <a:ext cx="157122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tabLst/>
              <a:defRPr/>
            </a:pPr>
            <a:r>
              <a:rPr lang="fr-FR" sz="900" dirty="0">
                <a:solidFill>
                  <a:schemeClr val="bg1"/>
                </a:solidFill>
                <a:latin typeface="+mj-lt"/>
              </a:rPr>
              <a:t>Validation des résultats.</a:t>
            </a:r>
          </a:p>
          <a:p>
            <a:pPr marL="171450" marR="0" lvl="0" indent="-1714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fr-FR" sz="900" dirty="0">
                <a:solidFill>
                  <a:schemeClr val="bg1"/>
                </a:solidFill>
                <a:latin typeface="+mj-lt"/>
              </a:rPr>
              <a:t>Analyse des labels pour voir si la classification est cohérente.</a:t>
            </a:r>
          </a:p>
          <a:p>
            <a:pPr marL="171450" marR="0" lvl="0" indent="-1714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fr-FR" sz="900" dirty="0">
                <a:solidFill>
                  <a:schemeClr val="bg1"/>
                </a:solidFill>
                <a:latin typeface="+mj-lt"/>
              </a:rPr>
              <a:t>Visualisation des clusters</a:t>
            </a:r>
            <a:endParaRPr kumimoji="0" lang="fr-FR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n-ea"/>
              <a:cs typeface="Arial"/>
              <a:sym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14312" y="1243422"/>
            <a:ext cx="7574509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Classification des données du jeu de test</a:t>
            </a:r>
            <a:r>
              <a:rPr kumimoji="0" lang="fr-FR" altLang="fr-FR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/>
            </a:r>
            <a:br>
              <a:rPr kumimoji="0" lang="fr-FR" altLang="fr-FR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</a:br>
            <a:endParaRPr kumimoji="0" lang="fr-FR" altLang="fr-FR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Objectif : </a:t>
            </a:r>
            <a:r>
              <a:rPr kumimoji="0" lang="fr-FR" altLang="fr-FR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Labelliser automatiquement</a:t>
            </a:r>
            <a:r>
              <a:rPr kumimoji="0" lang="fr-FR" altLang="fr-FR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les biens immobiliers du fichier de test comme étant :</a:t>
            </a:r>
            <a:br>
              <a:rPr kumimoji="0" lang="fr-FR" altLang="fr-FR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</a:br>
            <a:r>
              <a:rPr kumimoji="0" lang="fr-FR" altLang="fr-FR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→ des </a:t>
            </a:r>
            <a:r>
              <a:rPr kumimoji="0" lang="fr-FR" altLang="fr-FR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« Appartements »</a:t>
            </a:r>
            <a:r>
              <a:rPr kumimoji="0" lang="fr-FR" altLang="fr-FR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/>
            </a:r>
            <a:br>
              <a:rPr kumimoji="0" lang="fr-FR" altLang="fr-FR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</a:br>
            <a:r>
              <a:rPr kumimoji="0" lang="fr-FR" altLang="fr-FR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→ des </a:t>
            </a:r>
            <a:r>
              <a:rPr kumimoji="0" lang="fr-FR" altLang="fr-FR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« Locaux industriels, commerciaux ou assimilés »</a:t>
            </a:r>
            <a:endParaRPr kumimoji="0" lang="fr-FR" altLang="fr-FR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Année d’analyse : 2021</a:t>
            </a:r>
            <a:endParaRPr kumimoji="0" lang="fr-FR" altLang="fr-FR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Arrondissement concerné : 19ème arrondissement</a:t>
            </a:r>
            <a:endParaRPr kumimoji="0" lang="fr-FR" altLang="fr-FR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Calcul du </a:t>
            </a:r>
            <a:r>
              <a:rPr kumimoji="0" lang="fr-FR" altLang="fr-FR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prix au mètre carré</a:t>
            </a:r>
            <a:r>
              <a:rPr kumimoji="0" lang="fr-FR" altLang="fr-FR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:</a:t>
            </a:r>
            <a:br>
              <a:rPr kumimoji="0" lang="fr-FR" altLang="fr-FR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</a:br>
            <a:r>
              <a:rPr kumimoji="0" lang="fr-FR" altLang="fr-FR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valeur_foncière / surface_reelle_bati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Suppression des colonnes redondantes (valeur_foncière, surface…)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Prétraitement et normalisation des données pour optimiser l’apprentissage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Utilisation de l’algorithme </a:t>
            </a:r>
            <a:r>
              <a:rPr kumimoji="0" lang="fr-FR" altLang="fr-FR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K- means</a:t>
            </a:r>
            <a:r>
              <a:rPr kumimoji="0" lang="fr-FR" altLang="fr-FR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(non supervisé) pour </a:t>
            </a:r>
            <a:r>
              <a:rPr kumimoji="0" lang="fr-FR" altLang="fr-FR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identifier 2 groupes homogènes</a:t>
            </a:r>
            <a:endParaRPr kumimoji="0" lang="fr-FR" altLang="fr-FR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056" y="3859572"/>
            <a:ext cx="3458734" cy="12250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29450" y="549209"/>
            <a:ext cx="517258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dk1"/>
              </a:buClr>
              <a:buSzPct val="33333"/>
            </a:pPr>
            <a:r>
              <a:rPr lang="fr-FR" sz="3000" b="1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Raleway"/>
              </a:rPr>
              <a:t>I. Méthodologie suivie </a:t>
            </a:r>
          </a:p>
          <a:p>
            <a:endParaRPr lang="fr-FR" dirty="0"/>
          </a:p>
        </p:txBody>
      </p:sp>
      <p:sp>
        <p:nvSpPr>
          <p:cNvPr id="10" name="Titre 9"/>
          <p:cNvSpPr>
            <a:spLocks noGrp="1"/>
          </p:cNvSpPr>
          <p:nvPr>
            <p:ph type="title"/>
          </p:nvPr>
        </p:nvSpPr>
        <p:spPr>
          <a:xfrm>
            <a:off x="729450" y="1318650"/>
            <a:ext cx="7688400" cy="3031894"/>
          </a:xfrm>
        </p:spPr>
        <p:txBody>
          <a:bodyPr>
            <a:normAutofit fontScale="90000"/>
          </a:bodyPr>
          <a:lstStyle/>
          <a:p>
            <a:r>
              <a:rPr lang="fr-FR" sz="1600" b="0" dirty="0" smtClean="0"/>
              <a:t> </a:t>
            </a:r>
            <a:r>
              <a:rPr lang="fr-FR" sz="1600" dirty="0"/>
              <a:t>Résultat du clustering </a:t>
            </a:r>
            <a:r>
              <a:rPr lang="fr-FR" sz="1600" dirty="0" smtClean="0"/>
              <a:t>K- means</a:t>
            </a:r>
            <a:r>
              <a:rPr lang="fr-FR" sz="1600" b="0" dirty="0"/>
              <a:t/>
            </a:r>
            <a:br>
              <a:rPr lang="fr-FR" sz="1600" b="0" dirty="0"/>
            </a:br>
            <a:r>
              <a:rPr lang="fr-FR" sz="1600" b="0" dirty="0" smtClean="0"/>
              <a:t/>
            </a:r>
            <a:br>
              <a:rPr lang="fr-FR" sz="1600" b="0" dirty="0" smtClean="0"/>
            </a:br>
            <a:r>
              <a:rPr lang="fr-FR" sz="1600" b="0" dirty="0" smtClean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Nombre </a:t>
            </a:r>
            <a:r>
              <a:rPr lang="fr-FR" sz="1600" b="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de biens analysés : 40</a:t>
            </a:r>
            <a:br>
              <a:rPr lang="fr-FR" sz="1600" b="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</a:br>
            <a:r>
              <a:rPr lang="fr-FR" sz="1600" b="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Les biens ont été regroupés automatiquement en 2 clusters :</a:t>
            </a:r>
            <a:br>
              <a:rPr lang="fr-FR" sz="1600" b="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</a:br>
            <a:r>
              <a:rPr lang="fr-FR" sz="1600" b="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Cluster 0 :</a:t>
            </a:r>
            <a:br>
              <a:rPr lang="fr-FR" sz="1600" b="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</a:br>
            <a:r>
              <a:rPr lang="fr-FR" sz="1600" b="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→ Moyenne prix/m² : 9 807 €</a:t>
            </a:r>
            <a:br>
              <a:rPr lang="fr-FR" sz="1600" b="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</a:br>
            <a:r>
              <a:rPr lang="fr-FR" sz="1600" b="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→ Correspond à : Locaux commerciaux</a:t>
            </a:r>
            <a:br>
              <a:rPr lang="fr-FR" sz="1600" b="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</a:br>
            <a:r>
              <a:rPr lang="fr-FR" sz="1600" b="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Cluster 1 :</a:t>
            </a:r>
            <a:br>
              <a:rPr lang="fr-FR" sz="1600" b="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</a:br>
            <a:r>
              <a:rPr lang="fr-FR" sz="1600" b="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→ Moyenne prix/m² : 7 408 €</a:t>
            </a:r>
            <a:br>
              <a:rPr lang="fr-FR" sz="1600" b="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</a:br>
            <a:r>
              <a:rPr lang="fr-FR" sz="1600" b="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→ Correspond à : Appartements</a:t>
            </a:r>
            <a:br>
              <a:rPr lang="fr-FR" sz="1600" b="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</a:br>
            <a:r>
              <a:rPr lang="fr-FR" sz="1600" b="0" dirty="0" smtClean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/>
            </a:r>
            <a:br>
              <a:rPr lang="fr-FR" sz="1600" b="0" dirty="0" smtClean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</a:br>
            <a:r>
              <a:rPr lang="fr-FR" sz="1600" b="0" dirty="0" smtClean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L’algorithme </a:t>
            </a:r>
            <a:r>
              <a:rPr lang="fr-FR" sz="1600" b="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 permis une séparation efficace basée sur un seul critère : le prix au m²</a:t>
            </a:r>
            <a:r>
              <a:rPr lang="fr-FR" b="0" dirty="0"/>
              <a:t/>
            </a:r>
            <a:br>
              <a:rPr lang="fr-FR" b="0" dirty="0"/>
            </a:br>
            <a:endParaRPr lang="fr-FR" b="0" dirty="0"/>
          </a:p>
        </p:txBody>
      </p:sp>
    </p:spTree>
    <p:extLst>
      <p:ext uri="{BB962C8B-B14F-4D97-AF65-F5344CB8AC3E}">
        <p14:creationId xmlns:p14="http://schemas.microsoft.com/office/powerpoint/2010/main" val="1385393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>
            <a:spLocks noGrp="1"/>
          </p:cNvSpPr>
          <p:nvPr>
            <p:ph type="title"/>
          </p:nvPr>
        </p:nvSpPr>
        <p:spPr>
          <a:xfrm>
            <a:off x="671000" y="640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300" dirty="0">
                <a:latin typeface="Montserrat"/>
                <a:ea typeface="Montserrat"/>
                <a:cs typeface="Montserrat"/>
                <a:sym typeface="Montserrat"/>
              </a:rPr>
              <a:t>II. Résultat de la classification</a:t>
            </a:r>
            <a:endParaRPr sz="33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21"/>
          <p:cNvSpPr txBox="1">
            <a:spLocks noGrp="1"/>
          </p:cNvSpPr>
          <p:nvPr>
            <p:ph type="body" idx="1"/>
          </p:nvPr>
        </p:nvSpPr>
        <p:spPr>
          <a:xfrm>
            <a:off x="447615" y="1565497"/>
            <a:ext cx="7688700" cy="29373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l" rtl="0">
              <a:spcBef>
                <a:spcPts val="1200"/>
              </a:spcBef>
              <a:spcAft>
                <a:spcPts val="0"/>
              </a:spcAft>
              <a:buSzPts val="1300"/>
              <a:buFont typeface="Wingdings" panose="05000000000000000000" pitchFamily="2" charset="2"/>
              <a:buChar char="§"/>
            </a:pPr>
            <a:r>
              <a:rPr lang="fr-FR" sz="1000" b="1" i="1" dirty="0">
                <a:solidFill>
                  <a:schemeClr val="bg2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Différenciation Réussie : </a:t>
            </a:r>
            <a:r>
              <a:rPr lang="fr-FR" sz="1000" i="1" dirty="0">
                <a:solidFill>
                  <a:schemeClr val="bg2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L'algorithme KMeans a réussi à distinguer efficacement les types de biens sur la base de leurs prix au m².</a:t>
            </a:r>
          </a:p>
          <a:p>
            <a:pPr lvl="0" algn="l" rtl="0">
              <a:spcBef>
                <a:spcPts val="1200"/>
              </a:spcBef>
              <a:spcAft>
                <a:spcPts val="0"/>
              </a:spcAft>
              <a:buSzPts val="1300"/>
              <a:buFont typeface="Wingdings" panose="05000000000000000000" pitchFamily="2" charset="2"/>
              <a:buChar char="§"/>
            </a:pPr>
            <a:r>
              <a:rPr lang="fr-FR" sz="1000" b="1" i="1" dirty="0">
                <a:solidFill>
                  <a:schemeClr val="bg2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Confirmation par les Centres des Clusters :</a:t>
            </a:r>
          </a:p>
          <a:p>
            <a:pPr marL="14605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fr-FR" sz="1000" i="1" dirty="0">
                <a:solidFill>
                  <a:schemeClr val="bg2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Prix moyen des locaux commerciaux : 9 806 €/m².</a:t>
            </a:r>
          </a:p>
          <a:p>
            <a:pPr marL="14605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fr-FR" sz="1000" i="1" dirty="0">
                <a:solidFill>
                  <a:schemeClr val="bg2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Prix moyen des appartements : 7 408 €/m².</a:t>
            </a:r>
          </a:p>
          <a:p>
            <a:pPr marL="146050" lvl="0" indent="0" algn="l" rtl="0"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fr-FR" sz="1000" b="1" i="1" dirty="0">
                <a:solidFill>
                  <a:schemeClr val="bg2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  <a:sym typeface="Montserrat"/>
              </a:rPr>
              <a:t>Les limites et précautions 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1300"/>
              <a:buFont typeface="Wingdings" panose="05000000000000000000" pitchFamily="2" charset="2"/>
              <a:buChar char="F"/>
            </a:pPr>
            <a:r>
              <a:rPr lang="fr-FR" sz="1000" i="1" dirty="0">
                <a:solidFill>
                  <a:schemeClr val="bg2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  <a:sym typeface="Montserrat"/>
              </a:rPr>
              <a:t>Enrichissement de l'Analyse 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1300"/>
              <a:buFont typeface="Wingdings" panose="05000000000000000000" pitchFamily="2" charset="2"/>
              <a:buChar char="F"/>
            </a:pPr>
            <a:r>
              <a:rPr lang="fr-FR" sz="1000" i="1" dirty="0">
                <a:solidFill>
                  <a:schemeClr val="bg2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  <a:sym typeface="Montserrat"/>
              </a:rPr>
              <a:t>Exploration de Nouvelles Méthodes :Tester d'autres techniques de classification.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1300"/>
              <a:buFont typeface="Wingdings" panose="05000000000000000000" pitchFamily="2" charset="2"/>
              <a:buChar char="F"/>
            </a:pPr>
            <a:r>
              <a:rPr lang="fr-FR" sz="1000" i="1" dirty="0">
                <a:solidFill>
                  <a:schemeClr val="bg2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  <a:sym typeface="Montserrat"/>
              </a:rPr>
              <a:t>Augmenter le nombre de clusters pour affiner les résultats et obtenir des distinctions plus précises.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1300"/>
              <a:buFont typeface="Wingdings" panose="05000000000000000000" pitchFamily="2" charset="2"/>
              <a:buChar char="F"/>
            </a:pPr>
            <a:r>
              <a:rPr lang="fr-FR" sz="1000" i="1" dirty="0">
                <a:solidFill>
                  <a:schemeClr val="bg2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  <a:sym typeface="Montserrat"/>
              </a:rPr>
              <a:t>Suivi Temporel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>
            <a:spLocks noGrp="1"/>
          </p:cNvSpPr>
          <p:nvPr>
            <p:ph type="title"/>
          </p:nvPr>
        </p:nvSpPr>
        <p:spPr>
          <a:xfrm>
            <a:off x="671000" y="640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fr" sz="3300" dirty="0">
                <a:latin typeface="Montserrat"/>
                <a:ea typeface="Montserrat"/>
                <a:cs typeface="Montserrat"/>
                <a:sym typeface="Montserrat"/>
              </a:rPr>
              <a:t>III. </a:t>
            </a:r>
            <a:r>
              <a:rPr lang="fr-FR" sz="3200" dirty="0"/>
              <a:t>Recommandations business</a:t>
            </a:r>
            <a:br>
              <a:rPr lang="fr-FR" sz="3200" dirty="0"/>
            </a:b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21"/>
          <p:cNvSpPr txBox="1">
            <a:spLocks noGrp="1"/>
          </p:cNvSpPr>
          <p:nvPr>
            <p:ph type="body" idx="1"/>
          </p:nvPr>
        </p:nvSpPr>
        <p:spPr>
          <a:xfrm>
            <a:off x="447615" y="1565497"/>
            <a:ext cx="7688700" cy="29373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indent="0">
              <a:buNone/>
            </a:pPr>
            <a:r>
              <a:rPr lang="fr-FR" b="1" dirty="0" smtClean="0">
                <a:solidFill>
                  <a:schemeClr val="bg2"/>
                </a:solidFill>
              </a:rPr>
              <a:t>Recommandations </a:t>
            </a:r>
            <a:r>
              <a:rPr lang="fr-FR" b="1" dirty="0">
                <a:solidFill>
                  <a:schemeClr val="bg2"/>
                </a:solidFill>
              </a:rPr>
              <a:t>pour la direction </a:t>
            </a:r>
            <a:r>
              <a:rPr lang="fr-FR" b="1" dirty="0" smtClean="0">
                <a:solidFill>
                  <a:schemeClr val="bg2"/>
                </a:solidFill>
              </a:rPr>
              <a:t>corporate :</a:t>
            </a:r>
            <a:endParaRPr lang="fr-FR" dirty="0" smtClean="0">
              <a:solidFill>
                <a:schemeClr val="bg2"/>
              </a:solidFill>
            </a:endParaRPr>
          </a:p>
          <a:p>
            <a:pPr marL="146050" indent="0">
              <a:buNone/>
            </a:pPr>
            <a:endParaRPr lang="fr-FR" dirty="0">
              <a:solidFill>
                <a:schemeClr val="bg2"/>
              </a:solidFill>
            </a:endParaRPr>
          </a:p>
          <a:p>
            <a:r>
              <a:rPr lang="fr-FR" b="1" dirty="0">
                <a:solidFill>
                  <a:schemeClr val="bg2"/>
                </a:solidFill>
              </a:rPr>
              <a:t>Automatiser partiellement</a:t>
            </a:r>
            <a:r>
              <a:rPr lang="fr-FR" dirty="0">
                <a:solidFill>
                  <a:schemeClr val="bg2"/>
                </a:solidFill>
              </a:rPr>
              <a:t> le tri initial des biens en amont</a:t>
            </a:r>
          </a:p>
          <a:p>
            <a:r>
              <a:rPr lang="fr-FR" b="1" dirty="0">
                <a:solidFill>
                  <a:schemeClr val="bg2"/>
                </a:solidFill>
              </a:rPr>
              <a:t>Accélérer les décisions d’achat</a:t>
            </a:r>
            <a:r>
              <a:rPr lang="fr-FR" dirty="0">
                <a:solidFill>
                  <a:schemeClr val="bg2"/>
                </a:solidFill>
              </a:rPr>
              <a:t> en identifiant rapidement les locaux intéressants</a:t>
            </a:r>
          </a:p>
          <a:p>
            <a:r>
              <a:rPr lang="fr-FR" b="1" dirty="0">
                <a:solidFill>
                  <a:schemeClr val="bg2"/>
                </a:solidFill>
              </a:rPr>
              <a:t>Vendre les appartements</a:t>
            </a:r>
            <a:r>
              <a:rPr lang="fr-FR" dirty="0">
                <a:solidFill>
                  <a:schemeClr val="bg2"/>
                </a:solidFill>
              </a:rPr>
              <a:t> :</a:t>
            </a:r>
          </a:p>
          <a:p>
            <a:pPr lvl="1"/>
            <a:r>
              <a:rPr lang="fr-FR" dirty="0">
                <a:solidFill>
                  <a:schemeClr val="bg2"/>
                </a:solidFill>
              </a:rPr>
              <a:t>De petite ou moyenne surface</a:t>
            </a:r>
          </a:p>
          <a:p>
            <a:pPr lvl="1"/>
            <a:r>
              <a:rPr lang="fr-FR" dirty="0" smtClean="0">
                <a:solidFill>
                  <a:schemeClr val="bg2"/>
                </a:solidFill>
                <a:sym typeface="Montserrat"/>
              </a:rPr>
              <a:t> </a:t>
            </a:r>
            <a:r>
              <a:rPr lang="fr-FR" dirty="0">
                <a:solidFill>
                  <a:schemeClr val="bg2"/>
                </a:solidFill>
                <a:sym typeface="Montserrat"/>
              </a:rPr>
              <a:t>les plus anciens appartements à faible DPE (Diagnostic de Performance Energétique)</a:t>
            </a:r>
            <a:r>
              <a:rPr lang="fr-FR" dirty="0">
                <a:solidFill>
                  <a:schemeClr val="bg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lvl="1"/>
            <a:r>
              <a:rPr lang="fr-FR" dirty="0" smtClean="0">
                <a:solidFill>
                  <a:schemeClr val="bg2"/>
                </a:solidFill>
              </a:rPr>
              <a:t>Situés </a:t>
            </a:r>
            <a:r>
              <a:rPr lang="fr-FR" dirty="0">
                <a:solidFill>
                  <a:schemeClr val="bg2"/>
                </a:solidFill>
              </a:rPr>
              <a:t>dans des arrondissements populaires (13e, 18e, 19e, 20e)</a:t>
            </a:r>
          </a:p>
          <a:p>
            <a:r>
              <a:rPr lang="fr-FR" b="1" dirty="0">
                <a:solidFill>
                  <a:schemeClr val="bg2"/>
                </a:solidFill>
              </a:rPr>
              <a:t>Renforcer l’investissement</a:t>
            </a:r>
            <a:r>
              <a:rPr lang="fr-FR" dirty="0">
                <a:solidFill>
                  <a:schemeClr val="bg2"/>
                </a:solidFill>
              </a:rPr>
              <a:t> dans les </a:t>
            </a:r>
            <a:r>
              <a:rPr lang="fr-FR" b="1" dirty="0">
                <a:solidFill>
                  <a:schemeClr val="bg2"/>
                </a:solidFill>
              </a:rPr>
              <a:t>locaux commerciaux</a:t>
            </a:r>
            <a:r>
              <a:rPr lang="fr-FR" dirty="0">
                <a:solidFill>
                  <a:schemeClr val="bg2"/>
                </a:solidFill>
              </a:rPr>
              <a:t>, mieux valorisés au m²</a:t>
            </a:r>
          </a:p>
          <a:p>
            <a:r>
              <a:rPr lang="fr-FR" b="1" dirty="0">
                <a:solidFill>
                  <a:schemeClr val="bg2"/>
                </a:solidFill>
              </a:rPr>
              <a:t>Diversifier le portefeuille</a:t>
            </a:r>
            <a:r>
              <a:rPr lang="fr-FR" dirty="0">
                <a:solidFill>
                  <a:schemeClr val="bg2"/>
                </a:solidFill>
              </a:rPr>
              <a:t> en optimisant les segments les plus rentables</a:t>
            </a:r>
          </a:p>
          <a:p>
            <a:r>
              <a:rPr lang="fr-FR" b="1" dirty="0">
                <a:solidFill>
                  <a:schemeClr val="bg2"/>
                </a:solidFill>
              </a:rPr>
              <a:t>Surveiller les évolutions du marché</a:t>
            </a:r>
            <a:r>
              <a:rPr lang="fr-FR" dirty="0">
                <a:solidFill>
                  <a:schemeClr val="bg2"/>
                </a:solidFill>
              </a:rPr>
              <a:t> pour ajuster l’algorithme en </a:t>
            </a:r>
            <a:r>
              <a:rPr lang="fr-FR" dirty="0" smtClean="0">
                <a:solidFill>
                  <a:schemeClr val="bg2"/>
                </a:solidFill>
              </a:rPr>
              <a:t>continu</a:t>
            </a:r>
            <a:endParaRPr lang="fr-FR" dirty="0">
              <a:solidFill>
                <a:schemeClr val="bg2"/>
              </a:solidFill>
            </a:endParaRPr>
          </a:p>
          <a:p>
            <a:pPr lvl="0" algn="l" rtl="0">
              <a:spcBef>
                <a:spcPts val="1200"/>
              </a:spcBef>
              <a:spcAft>
                <a:spcPts val="0"/>
              </a:spcAft>
              <a:buSzPts val="1300"/>
              <a:buFont typeface="Wingdings" panose="05000000000000000000" pitchFamily="2" charset="2"/>
              <a:buChar char="§"/>
            </a:pPr>
            <a:endParaRPr lang="fr-FR" sz="1000" i="1" dirty="0">
              <a:latin typeface="+mj-l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940013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Personnalisé 2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10868</TotalTime>
  <Words>1306</Words>
  <Application>Microsoft Office PowerPoint</Application>
  <PresentationFormat>Affichage à l'écran (16:9)</PresentationFormat>
  <Paragraphs>198</Paragraphs>
  <Slides>20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8" baseType="lpstr">
      <vt:lpstr>Lato</vt:lpstr>
      <vt:lpstr>Arial</vt:lpstr>
      <vt:lpstr>Wingdings</vt:lpstr>
      <vt:lpstr>Raleway</vt:lpstr>
      <vt:lpstr>Courier New</vt:lpstr>
      <vt:lpstr>Calibri</vt:lpstr>
      <vt:lpstr>Montserrat</vt:lpstr>
      <vt:lpstr>Streamline</vt:lpstr>
      <vt:lpstr>Les Plus Beaux Logis de Paris Partie 1</vt:lpstr>
      <vt:lpstr>Présentation PowerPoint</vt:lpstr>
      <vt:lpstr>Analyse du marché de l’immobilier</vt:lpstr>
      <vt:lpstr>Analyse du marché de l’immobilier</vt:lpstr>
      <vt:lpstr>Analyse du marché de l’immobilier</vt:lpstr>
      <vt:lpstr>Analyse du marché de l’immobilier</vt:lpstr>
      <vt:lpstr>Analyse du marché de l’immobilier</vt:lpstr>
      <vt:lpstr>Analyse du marché de l’immobilier</vt:lpstr>
      <vt:lpstr>Analyse du marché de l’immobilier</vt:lpstr>
      <vt:lpstr>  </vt:lpstr>
      <vt:lpstr>  </vt:lpstr>
      <vt:lpstr>  </vt:lpstr>
      <vt:lpstr>  </vt:lpstr>
      <vt:lpstr>III. Résultat des prédictions   </vt:lpstr>
      <vt:lpstr>Les Plus Beaux Logis de Paris Partie 2</vt:lpstr>
      <vt:lpstr>Présentation PowerPoint</vt:lpstr>
      <vt:lpstr>I. Méthodologie suivie    </vt:lpstr>
      <vt:lpstr> Résultat du clustering K- means  Nombre de biens analysés : 40 Les biens ont été regroupés automatiquement en 2 clusters : Cluster 0 : → Moyenne prix/m² : 9 807 € → Correspond à : Locaux commerciaux Cluster 1 : → Moyenne prix/m² : 7 408 € → Correspond à : Appartements  L’algorithme a permis une séparation efficace basée sur un seul critère : le prix au m² </vt:lpstr>
      <vt:lpstr>II. Résultat de la classification   </vt:lpstr>
      <vt:lpstr>III. Recommandations business  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Plus Beaux Logis de Paris Partie 1</dc:title>
  <dc:creator>Neyna Mohamed Yehdih</dc:creator>
  <cp:lastModifiedBy>labhih safae</cp:lastModifiedBy>
  <cp:revision>158</cp:revision>
  <dcterms:modified xsi:type="dcterms:W3CDTF">2025-08-01T21:39:06Z</dcterms:modified>
</cp:coreProperties>
</file>